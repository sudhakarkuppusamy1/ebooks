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4" r:id="rId14"/>
    <p:sldId id="268" r:id="rId15"/>
    <p:sldId id="269" r:id="rId16"/>
    <p:sldId id="270" r:id="rId17"/>
    <p:sldId id="271" r:id="rId18"/>
    <p:sldId id="272" r:id="rId19"/>
    <p:sldId id="273" r:id="rId20"/>
    <p:sldId id="276" r:id="rId21"/>
    <p:sldId id="275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64" autoAdjust="0"/>
    <p:restoredTop sz="94718" autoAdjust="0"/>
  </p:normalViewPr>
  <p:slideViewPr>
    <p:cSldViewPr>
      <p:cViewPr varScale="1">
        <p:scale>
          <a:sx n="67" d="100"/>
          <a:sy n="67" d="100"/>
        </p:scale>
        <p:origin x="1374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8376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3DD683-B1D9-4688-BE03-9060E671CECB}" type="datetimeFigureOut">
              <a:rPr lang="en-US" smtClean="0"/>
              <a:pPr/>
              <a:t>6/6/2015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E7BB6D-3315-4F6D-AFF9-2A06E689005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6295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E7BB6D-3315-4F6D-AFF9-2A06E689005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643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DB6EA665-0BF5-44E1-84FD-623C6C44A29F}" type="datetime1">
              <a:rPr lang="en-US" smtClean="0"/>
              <a:pPr/>
              <a:t>6/6/2015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r>
              <a:rPr lang="en-US" smtClean="0"/>
              <a:t>CS 3090: Safety Critical Programming in C</a:t>
            </a:r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45D4ACAA-C07D-4D49-BB34-FCC94B4B11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29982-EC95-4064-AF80-57363458B1E6}" type="datetime1">
              <a:rPr lang="en-US" smtClean="0"/>
              <a:pPr/>
              <a:t>6/6/2015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3090: Safety Critical Programming in C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4ACAA-C07D-4D49-BB34-FCC94B4B11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C1CC4390-51D5-49DB-B931-F467BB0A8F22}" type="datetime1">
              <a:rPr lang="en-US" smtClean="0"/>
              <a:pPr/>
              <a:t>6/6/2015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r>
              <a:rPr lang="en-US" smtClean="0"/>
              <a:t>CS 3090: Safety Critical Programming in C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45D4ACAA-C07D-4D49-BB34-FCC94B4B11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D502F-E0A6-4AB1-9A45-9C7DBFBE9278}" type="datetime1">
              <a:rPr lang="en-US" smtClean="0"/>
              <a:pPr/>
              <a:t>6/6/2015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3090: Safety Critical Programming in C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4ACAA-C07D-4D49-BB34-FCC94B4B11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758D3-5CA3-456B-851B-584F99D3428A}" type="datetime1">
              <a:rPr lang="en-US" smtClean="0"/>
              <a:pPr/>
              <a:t>6/6/2015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3090: Safety Critical Programming in C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4ACAA-C07D-4D49-BB34-FCC94B4B11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857DB-9717-4B8E-B9AA-F4640D6AF7D8}" type="datetime1">
              <a:rPr lang="en-US" smtClean="0"/>
              <a:pPr/>
              <a:t>6/6/2015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3090: Safety Critical Programming in C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4ACAA-C07D-4D49-BB34-FCC94B4B11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1E74F-9ACF-4996-8C90-A1E575662B52}" type="datetime1">
              <a:rPr lang="en-US" smtClean="0"/>
              <a:pPr/>
              <a:t>6/6/2015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3090: Safety Critical Programming in C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4ACAA-C07D-4D49-BB34-FCC94B4B11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103F-B0EC-424A-88EF-ACCDA18C9FB4}" type="datetime1">
              <a:rPr lang="en-US" smtClean="0"/>
              <a:pPr/>
              <a:t>6/6/2015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3090: Safety Critical Programming in C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4ACAA-C07D-4D49-BB34-FCC94B4B11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BE0C8-CFFA-4ACE-A808-19B388E9C073}" type="datetime1">
              <a:rPr lang="en-US" smtClean="0"/>
              <a:pPr/>
              <a:t>6/6/2015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3090: Safety Critical Programming in C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4ACAA-C07D-4D49-BB34-FCC94B4B11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ECA21-0204-4365-876A-CF8BBECB1652}" type="datetime1">
              <a:rPr lang="en-US" smtClean="0"/>
              <a:pPr/>
              <a:t>6/6/2015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3090: Safety Critical Programming in C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4ACAA-C07D-4D49-BB34-FCC94B4B11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40998-7FBA-44C6-963A-4C10D2FD3284}" type="datetime1">
              <a:rPr lang="en-US" smtClean="0"/>
              <a:pPr/>
              <a:t>6/6/2015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3090: Safety Critical Programming in C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4ACAA-C07D-4D49-BB34-FCC94B4B11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A1A6D9E3-416D-46AE-B3B6-5E34F8078C11}" type="datetime1">
              <a:rPr lang="en-US" smtClean="0"/>
              <a:pPr/>
              <a:t>6/6/2015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CS 3090: Safety Critical Programming in C</a:t>
            </a:r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45D4ACAA-C07D-4D49-BB34-FCC94B4B11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hd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ibm.com/developerworks/rational/library/06/0822_satish-giridhar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Dynamic memory allocation in C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(Reek, Ch. 11)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4ACAA-C07D-4D49-BB34-FCC94B4B114A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654552" cy="365760"/>
          </a:xfrm>
        </p:spPr>
        <p:txBody>
          <a:bodyPr/>
          <a:lstStyle/>
          <a:p>
            <a:r>
              <a:rPr lang="en-US" smtClean="0"/>
              <a:t>CS 3090: Safety Critical Programming in C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Overview of memory management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898648" y="6356350"/>
            <a:ext cx="3578352" cy="365760"/>
          </a:xfrm>
        </p:spPr>
        <p:txBody>
          <a:bodyPr/>
          <a:lstStyle/>
          <a:p>
            <a:r>
              <a:rPr lang="en-US" dirty="0" smtClean="0"/>
              <a:t>CS 3090: Safety Critical Programming in 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4ACAA-C07D-4D49-BB34-FCC94B4B114A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Stack-allocated memory</a:t>
            </a:r>
          </a:p>
          <a:p>
            <a:pPr lvl="1"/>
            <a:r>
              <a:rPr lang="en-US" dirty="0" smtClean="0"/>
              <a:t>When a function is called, memory is allocated for all of its parameters and local variables.</a:t>
            </a:r>
          </a:p>
          <a:p>
            <a:pPr lvl="1"/>
            <a:r>
              <a:rPr lang="en-US" dirty="0" smtClean="0"/>
              <a:t>Each active function call has memory on the stack (with the current function call on top)</a:t>
            </a:r>
          </a:p>
          <a:p>
            <a:pPr lvl="1"/>
            <a:r>
              <a:rPr lang="en-US" dirty="0" smtClean="0"/>
              <a:t>When a function call terminates,</a:t>
            </a:r>
          </a:p>
          <a:p>
            <a:pPr lvl="1">
              <a:buNone/>
            </a:pPr>
            <a:r>
              <a:rPr lang="en-US" dirty="0" smtClean="0"/>
              <a:t>	the memory is </a:t>
            </a:r>
            <a:r>
              <a:rPr lang="en-US" dirty="0" err="1" smtClean="0"/>
              <a:t>deallocated</a:t>
            </a:r>
            <a:r>
              <a:rPr lang="en-US" dirty="0" smtClean="0"/>
              <a:t> (“freed up”)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Ex:	</a:t>
            </a:r>
            <a:r>
              <a:rPr lang="en-US" sz="2000" dirty="0" smtClean="0">
                <a:latin typeface="Lucida Console" pitchFamily="49" charset="0"/>
              </a:rPr>
              <a:t>main()</a:t>
            </a:r>
            <a:r>
              <a:rPr lang="en-US" dirty="0" smtClean="0"/>
              <a:t> calls </a:t>
            </a:r>
            <a:r>
              <a:rPr lang="en-US" sz="2000" dirty="0" smtClean="0">
                <a:latin typeface="Lucida Console" pitchFamily="49" charset="0"/>
              </a:rPr>
              <a:t>f()</a:t>
            </a:r>
            <a:r>
              <a:rPr lang="en-US" dirty="0" smtClean="0"/>
              <a:t>,</a:t>
            </a:r>
          </a:p>
          <a:p>
            <a:pPr>
              <a:buNone/>
            </a:pPr>
            <a:r>
              <a:rPr lang="en-US" dirty="0" smtClean="0"/>
              <a:t>		</a:t>
            </a:r>
            <a:r>
              <a:rPr lang="en-US" sz="2000" dirty="0" smtClean="0">
                <a:latin typeface="Lucida Console" pitchFamily="49" charset="0"/>
              </a:rPr>
              <a:t>f()</a:t>
            </a:r>
            <a:r>
              <a:rPr lang="en-US" dirty="0" smtClean="0"/>
              <a:t> calls </a:t>
            </a:r>
            <a:r>
              <a:rPr lang="en-US" sz="2000" dirty="0" smtClean="0">
                <a:latin typeface="Lucida Console" pitchFamily="49" charset="0"/>
              </a:rPr>
              <a:t>g()</a:t>
            </a:r>
          </a:p>
          <a:p>
            <a:pPr>
              <a:buNone/>
            </a:pPr>
            <a:r>
              <a:rPr lang="en-US" dirty="0" smtClean="0"/>
              <a:t>		</a:t>
            </a:r>
            <a:r>
              <a:rPr lang="en-US" sz="2000" dirty="0" smtClean="0">
                <a:latin typeface="Lucida Console" pitchFamily="49" charset="0"/>
              </a:rPr>
              <a:t>g()</a:t>
            </a:r>
            <a:r>
              <a:rPr lang="en-US" dirty="0" smtClean="0"/>
              <a:t> recursively calls </a:t>
            </a:r>
            <a:r>
              <a:rPr lang="en-US" sz="2000" dirty="0" smtClean="0">
                <a:latin typeface="Lucida Console" pitchFamily="49" charset="0"/>
              </a:rPr>
              <a:t>g()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6893004" y="5619690"/>
            <a:ext cx="4572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 smtClean="0">
              <a:latin typeface="Lucida Console" pitchFamily="49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426404" y="5619690"/>
            <a:ext cx="4572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 smtClean="0">
              <a:latin typeface="Lucida Console" pitchFamily="49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959804" y="5619690"/>
            <a:ext cx="4572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 smtClean="0">
              <a:latin typeface="Lucida Console" pitchFamily="49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740604" y="5467290"/>
            <a:ext cx="1905000" cy="838200"/>
          </a:xfrm>
          <a:prstGeom prst="rect">
            <a:avLst/>
          </a:prstGeom>
          <a:solidFill>
            <a:schemeClr val="accent2"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</p:txBody>
      </p:sp>
      <p:sp>
        <p:nvSpPr>
          <p:cNvPr id="10" name="TextBox 9"/>
          <p:cNvSpPr txBox="1"/>
          <p:nvPr/>
        </p:nvSpPr>
        <p:spPr>
          <a:xfrm>
            <a:off x="7578804" y="5924490"/>
            <a:ext cx="11079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latin typeface="Lucida Console" pitchFamily="49" charset="0"/>
              </a:rPr>
              <a:t>main()</a:t>
            </a:r>
            <a:endParaRPr lang="en-US" sz="2000" dirty="0">
              <a:latin typeface="Lucida Console" pitchFamily="49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893004" y="4781490"/>
            <a:ext cx="4572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 smtClean="0">
              <a:latin typeface="Lucida Console" pitchFamily="49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426404" y="4781490"/>
            <a:ext cx="4572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 smtClean="0">
              <a:latin typeface="Lucida Console" pitchFamily="49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959804" y="4781490"/>
            <a:ext cx="4572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 smtClean="0">
              <a:latin typeface="Lucida Console" pitchFamily="49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740604" y="4629090"/>
            <a:ext cx="1905000" cy="838200"/>
          </a:xfrm>
          <a:prstGeom prst="rect">
            <a:avLst/>
          </a:prstGeom>
          <a:solidFill>
            <a:schemeClr val="accent2"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</p:txBody>
      </p:sp>
      <p:sp>
        <p:nvSpPr>
          <p:cNvPr id="15" name="TextBox 14"/>
          <p:cNvSpPr txBox="1"/>
          <p:nvPr/>
        </p:nvSpPr>
        <p:spPr>
          <a:xfrm>
            <a:off x="8001000" y="5086290"/>
            <a:ext cx="6463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latin typeface="Lucida Console" pitchFamily="49" charset="0"/>
              </a:rPr>
              <a:t>f()</a:t>
            </a:r>
            <a:endParaRPr lang="en-US" sz="2000" dirty="0">
              <a:latin typeface="Lucida Console" pitchFamily="49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893004" y="3943290"/>
            <a:ext cx="4572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 smtClean="0">
              <a:latin typeface="Lucida Console" pitchFamily="49" charset="0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426404" y="3943290"/>
            <a:ext cx="4572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 smtClean="0">
              <a:latin typeface="Lucida Console" pitchFamily="49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959804" y="3943290"/>
            <a:ext cx="4572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 smtClean="0">
              <a:latin typeface="Lucida Console" pitchFamily="49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740604" y="3790890"/>
            <a:ext cx="1905000" cy="838200"/>
          </a:xfrm>
          <a:prstGeom prst="rect">
            <a:avLst/>
          </a:prstGeom>
          <a:solidFill>
            <a:schemeClr val="accent2"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</p:txBody>
      </p:sp>
      <p:sp>
        <p:nvSpPr>
          <p:cNvPr id="20" name="TextBox 19"/>
          <p:cNvSpPr txBox="1"/>
          <p:nvPr/>
        </p:nvSpPr>
        <p:spPr>
          <a:xfrm>
            <a:off x="8001000" y="4248090"/>
            <a:ext cx="6463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latin typeface="Lucida Console" pitchFamily="49" charset="0"/>
              </a:rPr>
              <a:t>g()</a:t>
            </a:r>
            <a:endParaRPr lang="en-US" sz="2000" dirty="0">
              <a:latin typeface="Lucida Console" pitchFamily="49" charset="0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887496" y="3105090"/>
            <a:ext cx="4572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 smtClean="0">
              <a:latin typeface="Lucida Console" pitchFamily="49" charset="0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420896" y="3105090"/>
            <a:ext cx="4572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 smtClean="0">
              <a:latin typeface="Lucida Console" pitchFamily="49" charset="0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954296" y="3105090"/>
            <a:ext cx="4572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 smtClean="0">
              <a:latin typeface="Lucida Console" pitchFamily="49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735096" y="2952690"/>
            <a:ext cx="1905000" cy="838200"/>
          </a:xfrm>
          <a:prstGeom prst="rect">
            <a:avLst/>
          </a:prstGeom>
          <a:solidFill>
            <a:schemeClr val="accent2"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</p:txBody>
      </p:sp>
      <p:sp>
        <p:nvSpPr>
          <p:cNvPr id="25" name="TextBox 24"/>
          <p:cNvSpPr txBox="1"/>
          <p:nvPr/>
        </p:nvSpPr>
        <p:spPr>
          <a:xfrm>
            <a:off x="7996225" y="3409890"/>
            <a:ext cx="6463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latin typeface="Lucida Console" pitchFamily="49" charset="0"/>
              </a:rPr>
              <a:t>g()</a:t>
            </a:r>
            <a:endParaRPr lang="en-US" sz="2000" dirty="0">
              <a:latin typeface="Lucida Console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0" grpId="0"/>
      <p:bldP spid="10" grpId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/>
      <p:bldP spid="15" grpId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0" grpId="0"/>
      <p:bldP spid="20" grpId="1"/>
      <p:bldP spid="21" grpId="0" animBg="1"/>
      <p:bldP spid="21" grpId="1" animBg="1"/>
      <p:bldP spid="22" grpId="0" animBg="1"/>
      <p:bldP spid="22" grpId="1" animBg="1"/>
      <p:bldP spid="23" grpId="0" animBg="1"/>
      <p:bldP spid="23" grpId="1" animBg="1"/>
      <p:bldP spid="24" grpId="0" animBg="1"/>
      <p:bldP spid="24" grpId="1" animBg="1"/>
      <p:bldP spid="25" grpId="0"/>
      <p:bldP spid="25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Overview of memory management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898648" y="6356350"/>
            <a:ext cx="3578352" cy="365760"/>
          </a:xfrm>
        </p:spPr>
        <p:txBody>
          <a:bodyPr/>
          <a:lstStyle/>
          <a:p>
            <a:r>
              <a:rPr lang="en-US" dirty="0" smtClean="0"/>
              <a:t>CS 3090: Safety Critical Programming in 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4ACAA-C07D-4D49-BB34-FCC94B4B114A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Heap-allocated memory</a:t>
            </a:r>
          </a:p>
          <a:p>
            <a:pPr lvl="1"/>
            <a:r>
              <a:rPr lang="en-US" dirty="0" smtClean="0"/>
              <a:t>This is used for </a:t>
            </a:r>
            <a:r>
              <a:rPr lang="en-US" i="1" dirty="0" smtClean="0"/>
              <a:t>persistent</a:t>
            </a:r>
            <a:r>
              <a:rPr lang="en-US" dirty="0" smtClean="0"/>
              <a:t> data, that must survive beyond the lifetime of a function call</a:t>
            </a:r>
          </a:p>
          <a:p>
            <a:pPr lvl="2"/>
            <a:r>
              <a:rPr lang="en-US" dirty="0" smtClean="0"/>
              <a:t>global variables</a:t>
            </a:r>
          </a:p>
          <a:p>
            <a:pPr lvl="2"/>
            <a:r>
              <a:rPr lang="en-US" dirty="0" smtClean="0"/>
              <a:t>dynamically allocated memory – C statements can create new heap data (similar to </a:t>
            </a:r>
            <a:r>
              <a:rPr lang="en-US" dirty="0" smtClean="0">
                <a:latin typeface="Lucida Console" pitchFamily="49" charset="0"/>
              </a:rPr>
              <a:t>new</a:t>
            </a:r>
            <a:r>
              <a:rPr lang="en-US" dirty="0" smtClean="0"/>
              <a:t> in Java/C++)</a:t>
            </a:r>
          </a:p>
          <a:p>
            <a:pPr lvl="1"/>
            <a:r>
              <a:rPr lang="en-US" dirty="0" smtClean="0"/>
              <a:t>Heap memory is allocated in a more complex way than stack memory</a:t>
            </a:r>
          </a:p>
          <a:p>
            <a:pPr lvl="1"/>
            <a:r>
              <a:rPr lang="en-US" dirty="0" smtClean="0"/>
              <a:t>Like stack-allocated memory, the underlying system determines where to get more memory – the programmer doesn’t have to search for free memory space!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Allocating new heap memory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898648" y="6356350"/>
            <a:ext cx="3578352" cy="365760"/>
          </a:xfrm>
        </p:spPr>
        <p:txBody>
          <a:bodyPr/>
          <a:lstStyle/>
          <a:p>
            <a:r>
              <a:rPr lang="en-US" dirty="0" smtClean="0"/>
              <a:t>CS 3090: Safety Critical Programming in 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4ACAA-C07D-4D49-BB34-FCC94B4B114A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152400" y="1219200"/>
            <a:ext cx="8763000" cy="493776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000" dirty="0" smtClean="0">
                <a:latin typeface="Lucida Console" pitchFamily="49" charset="0"/>
                <a:ea typeface="Arial Unicode MS" pitchFamily="34" charset="-128"/>
                <a:cs typeface="Arial Unicode MS" pitchFamily="34" charset="-128"/>
              </a:rPr>
              <a:t>void *</a:t>
            </a:r>
            <a:r>
              <a:rPr lang="en-US" sz="2000" dirty="0" err="1" smtClean="0">
                <a:latin typeface="Lucida Console" pitchFamily="49" charset="0"/>
                <a:ea typeface="Arial Unicode MS" pitchFamily="34" charset="-128"/>
                <a:cs typeface="Arial Unicode MS" pitchFamily="34" charset="-128"/>
              </a:rPr>
              <a:t>malloc</a:t>
            </a:r>
            <a:r>
              <a:rPr lang="en-US" sz="2000" dirty="0" smtClean="0">
                <a:latin typeface="Lucida Console" pitchFamily="49" charset="0"/>
                <a:ea typeface="Arial Unicode MS" pitchFamily="34" charset="-128"/>
                <a:cs typeface="Arial Unicode MS" pitchFamily="34" charset="-128"/>
              </a:rPr>
              <a:t>(</a:t>
            </a:r>
            <a:r>
              <a:rPr lang="en-US" sz="2000" dirty="0" err="1" smtClean="0">
                <a:latin typeface="Lucida Console" pitchFamily="49" charset="0"/>
                <a:ea typeface="Arial Unicode MS" pitchFamily="34" charset="-128"/>
                <a:cs typeface="Arial Unicode MS" pitchFamily="34" charset="-128"/>
              </a:rPr>
              <a:t>size_t</a:t>
            </a:r>
            <a:r>
              <a:rPr lang="en-US" sz="2000" dirty="0" smtClean="0">
                <a:latin typeface="Lucida Console" pitchFamily="49" charset="0"/>
                <a:ea typeface="Arial Unicode MS" pitchFamily="34" charset="-128"/>
                <a:cs typeface="Arial Unicode MS" pitchFamily="34" charset="-128"/>
              </a:rPr>
              <a:t> size);</a:t>
            </a:r>
          </a:p>
          <a:p>
            <a:r>
              <a:rPr lang="en-US" dirty="0" smtClean="0"/>
              <a:t>Allocate a block of </a:t>
            </a:r>
            <a:r>
              <a:rPr lang="en-US" sz="2000" dirty="0" smtClean="0">
                <a:latin typeface="Lucida Console" pitchFamily="49" charset="0"/>
              </a:rPr>
              <a:t>size</a:t>
            </a:r>
            <a:r>
              <a:rPr lang="en-US" dirty="0" smtClean="0"/>
              <a:t> bytes,</a:t>
            </a:r>
          </a:p>
          <a:p>
            <a:pPr>
              <a:buNone/>
            </a:pPr>
            <a:r>
              <a:rPr lang="en-US" dirty="0" smtClean="0"/>
              <a:t>	return a pointer to the block</a:t>
            </a:r>
          </a:p>
          <a:p>
            <a:pPr>
              <a:buNone/>
            </a:pPr>
            <a:r>
              <a:rPr lang="en-US" dirty="0" smtClean="0"/>
              <a:t>	(</a:t>
            </a:r>
            <a:r>
              <a:rPr lang="en-US" sz="2000" dirty="0" smtClean="0">
                <a:latin typeface="Lucida Console" pitchFamily="49" charset="0"/>
              </a:rPr>
              <a:t>NULL</a:t>
            </a:r>
            <a:r>
              <a:rPr lang="en-US" dirty="0" smtClean="0"/>
              <a:t> if unable to allocate block)</a:t>
            </a:r>
          </a:p>
          <a:p>
            <a:pPr>
              <a:buNone/>
            </a:pPr>
            <a:endParaRPr lang="en-US" sz="2000" dirty="0" smtClean="0">
              <a:latin typeface="Lucida Console" pitchFamily="49" charset="0"/>
            </a:endParaRPr>
          </a:p>
          <a:p>
            <a:pPr>
              <a:buNone/>
            </a:pPr>
            <a:r>
              <a:rPr lang="en-US" sz="2000" dirty="0" smtClean="0">
                <a:latin typeface="Lucida Console" pitchFamily="49" charset="0"/>
              </a:rPr>
              <a:t>void *</a:t>
            </a:r>
            <a:r>
              <a:rPr lang="en-US" sz="2000" dirty="0" err="1" smtClean="0">
                <a:latin typeface="Lucida Console" pitchFamily="49" charset="0"/>
              </a:rPr>
              <a:t>calloc</a:t>
            </a:r>
            <a:r>
              <a:rPr lang="en-US" sz="2000" dirty="0" smtClean="0">
                <a:latin typeface="Lucida Console" pitchFamily="49" charset="0"/>
              </a:rPr>
              <a:t>(</a:t>
            </a:r>
            <a:r>
              <a:rPr lang="en-US" sz="2000" dirty="0" err="1" smtClean="0">
                <a:latin typeface="Lucida Console" pitchFamily="49" charset="0"/>
              </a:rPr>
              <a:t>size_t</a:t>
            </a:r>
            <a:r>
              <a:rPr lang="en-US" sz="2000" dirty="0" smtClean="0">
                <a:latin typeface="Lucida Console" pitchFamily="49" charset="0"/>
              </a:rPr>
              <a:t> </a:t>
            </a:r>
            <a:r>
              <a:rPr lang="en-US" sz="2000" dirty="0" err="1" smtClean="0">
                <a:latin typeface="Lucida Console" pitchFamily="49" charset="0"/>
              </a:rPr>
              <a:t>num_elements</a:t>
            </a:r>
            <a:r>
              <a:rPr lang="en-US" sz="2000" dirty="0" smtClean="0">
                <a:latin typeface="Lucida Console" pitchFamily="49" charset="0"/>
              </a:rPr>
              <a:t>, </a:t>
            </a:r>
            <a:r>
              <a:rPr lang="en-US" sz="2000" dirty="0" err="1" smtClean="0">
                <a:latin typeface="Lucida Console" pitchFamily="49" charset="0"/>
              </a:rPr>
              <a:t>size_t</a:t>
            </a:r>
            <a:r>
              <a:rPr lang="en-US" sz="2000" dirty="0" smtClean="0">
                <a:latin typeface="Lucida Console" pitchFamily="49" charset="0"/>
              </a:rPr>
              <a:t> </a:t>
            </a:r>
            <a:r>
              <a:rPr lang="en-US" sz="2000" dirty="0" err="1" smtClean="0">
                <a:latin typeface="Lucida Console" pitchFamily="49" charset="0"/>
              </a:rPr>
              <a:t>element_size</a:t>
            </a:r>
            <a:r>
              <a:rPr lang="en-US" sz="2000" dirty="0" smtClean="0">
                <a:latin typeface="Lucida Console" pitchFamily="49" charset="0"/>
              </a:rPr>
              <a:t>);</a:t>
            </a:r>
          </a:p>
          <a:p>
            <a:r>
              <a:rPr lang="en-US" dirty="0" smtClean="0"/>
              <a:t>Allocate a block of </a:t>
            </a:r>
            <a:r>
              <a:rPr lang="en-US" sz="2000" dirty="0" err="1" smtClean="0">
                <a:latin typeface="Lucida Console" pitchFamily="49" charset="0"/>
              </a:rPr>
              <a:t>num_elements</a:t>
            </a:r>
            <a:r>
              <a:rPr lang="en-US" sz="2000" dirty="0" smtClean="0">
                <a:latin typeface="Lucida Console" pitchFamily="49" charset="0"/>
              </a:rPr>
              <a:t> * </a:t>
            </a:r>
            <a:r>
              <a:rPr lang="en-US" sz="2000" dirty="0" err="1" smtClean="0">
                <a:latin typeface="Lucida Console" pitchFamily="49" charset="0"/>
              </a:rPr>
              <a:t>element_size</a:t>
            </a:r>
            <a:r>
              <a:rPr lang="en-US" dirty="0" smtClean="0"/>
              <a:t> bytes,</a:t>
            </a:r>
          </a:p>
          <a:p>
            <a:pPr>
              <a:buNone/>
            </a:pPr>
            <a:r>
              <a:rPr lang="en-US" dirty="0" smtClean="0"/>
              <a:t>	initialize every byte to zero,</a:t>
            </a:r>
          </a:p>
          <a:p>
            <a:pPr>
              <a:buNone/>
            </a:pPr>
            <a:r>
              <a:rPr lang="en-US" dirty="0" smtClean="0"/>
              <a:t>	return pointer to the block</a:t>
            </a:r>
          </a:p>
          <a:p>
            <a:pPr>
              <a:buNone/>
            </a:pPr>
            <a:r>
              <a:rPr lang="en-US" dirty="0" smtClean="0"/>
              <a:t>	(</a:t>
            </a:r>
            <a:r>
              <a:rPr lang="en-US" sz="2000" dirty="0" smtClean="0">
                <a:latin typeface="Lucida Console" pitchFamily="49" charset="0"/>
              </a:rPr>
              <a:t>NULL</a:t>
            </a:r>
            <a:r>
              <a:rPr lang="en-US" dirty="0" smtClean="0"/>
              <a:t> if unable to allocate block)</a:t>
            </a:r>
          </a:p>
        </p:txBody>
      </p:sp>
      <p:sp>
        <p:nvSpPr>
          <p:cNvPr id="6" name="Line Callout 1 5"/>
          <p:cNvSpPr/>
          <p:nvPr/>
        </p:nvSpPr>
        <p:spPr>
          <a:xfrm>
            <a:off x="76200" y="76200"/>
            <a:ext cx="4953000" cy="457200"/>
          </a:xfrm>
          <a:prstGeom prst="borderCallout1">
            <a:avLst>
              <a:gd name="adj1" fmla="val 92299"/>
              <a:gd name="adj2" fmla="val 3280"/>
              <a:gd name="adj3" fmla="val 258952"/>
              <a:gd name="adj4" fmla="val 6289"/>
            </a:avLst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Note: </a:t>
            </a:r>
            <a:r>
              <a:rPr lang="en-US" sz="2000" dirty="0" smtClean="0">
                <a:latin typeface="Lucida Console" pitchFamily="49" charset="0"/>
              </a:rPr>
              <a:t>void *</a:t>
            </a:r>
            <a:r>
              <a:rPr lang="en-US" dirty="0" smtClean="0"/>
              <a:t> denotes a generic pointer type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Allocating new heap memory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898648" y="6356350"/>
            <a:ext cx="3578352" cy="365760"/>
          </a:xfrm>
        </p:spPr>
        <p:txBody>
          <a:bodyPr/>
          <a:lstStyle/>
          <a:p>
            <a:r>
              <a:rPr lang="en-US" dirty="0" smtClean="0"/>
              <a:t>CS 3090: Safety Critical Programming in 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4ACAA-C07D-4D49-BB34-FCC94B4B114A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sz="2000" dirty="0" smtClean="0">
                <a:latin typeface="Lucida Console" pitchFamily="49" charset="0"/>
              </a:rPr>
              <a:t>void *</a:t>
            </a:r>
            <a:r>
              <a:rPr lang="en-US" sz="2000" dirty="0" err="1" smtClean="0">
                <a:latin typeface="Lucida Console" pitchFamily="49" charset="0"/>
              </a:rPr>
              <a:t>realloc</a:t>
            </a:r>
            <a:r>
              <a:rPr lang="en-US" sz="2000" dirty="0" smtClean="0">
                <a:latin typeface="Lucida Console" pitchFamily="49" charset="0"/>
              </a:rPr>
              <a:t>(void *</a:t>
            </a:r>
            <a:r>
              <a:rPr lang="en-US" sz="2000" dirty="0" err="1" smtClean="0">
                <a:latin typeface="Lucida Console" pitchFamily="49" charset="0"/>
              </a:rPr>
              <a:t>ptr</a:t>
            </a:r>
            <a:r>
              <a:rPr lang="en-US" sz="2000" dirty="0" smtClean="0">
                <a:latin typeface="Lucida Console" pitchFamily="49" charset="0"/>
              </a:rPr>
              <a:t>, </a:t>
            </a:r>
            <a:r>
              <a:rPr lang="en-US" sz="2000" dirty="0" err="1" smtClean="0">
                <a:latin typeface="Lucida Console" pitchFamily="49" charset="0"/>
              </a:rPr>
              <a:t>size_t</a:t>
            </a:r>
            <a:r>
              <a:rPr lang="en-US" sz="2000" dirty="0" smtClean="0">
                <a:latin typeface="Lucida Console" pitchFamily="49" charset="0"/>
              </a:rPr>
              <a:t> </a:t>
            </a:r>
            <a:r>
              <a:rPr lang="en-US" sz="2000" dirty="0" err="1" smtClean="0">
                <a:latin typeface="Lucida Console" pitchFamily="49" charset="0"/>
              </a:rPr>
              <a:t>new_size</a:t>
            </a:r>
            <a:r>
              <a:rPr lang="en-US" sz="2000" dirty="0" smtClean="0">
                <a:latin typeface="Lucida Console" pitchFamily="49" charset="0"/>
              </a:rPr>
              <a:t>);</a:t>
            </a:r>
          </a:p>
          <a:p>
            <a:r>
              <a:rPr lang="en-US" dirty="0" smtClean="0"/>
              <a:t>Given a previously allocated block starting at </a:t>
            </a:r>
            <a:r>
              <a:rPr lang="en-US" sz="2000" dirty="0" err="1" smtClean="0">
                <a:latin typeface="Lucida Console" pitchFamily="49" charset="0"/>
              </a:rPr>
              <a:t>ptr</a:t>
            </a:r>
            <a:r>
              <a:rPr lang="en-US" dirty="0" smtClean="0"/>
              <a:t>,</a:t>
            </a:r>
          </a:p>
          <a:p>
            <a:pPr lvl="1"/>
            <a:r>
              <a:rPr lang="en-US" dirty="0" smtClean="0"/>
              <a:t>change the block size to </a:t>
            </a:r>
            <a:r>
              <a:rPr lang="en-US" sz="2000" dirty="0" err="1" smtClean="0">
                <a:latin typeface="Lucida Console" pitchFamily="49" charset="0"/>
              </a:rPr>
              <a:t>new_size</a:t>
            </a:r>
            <a:r>
              <a:rPr lang="en-US" dirty="0" smtClean="0"/>
              <a:t>,</a:t>
            </a:r>
          </a:p>
          <a:p>
            <a:pPr lvl="1"/>
            <a:r>
              <a:rPr lang="en-US" dirty="0" smtClean="0"/>
              <a:t>return pointer to resized block</a:t>
            </a:r>
          </a:p>
          <a:p>
            <a:pPr lvl="2"/>
            <a:r>
              <a:rPr lang="en-US" dirty="0" smtClean="0"/>
              <a:t>If block size is increased, contents of old block may be copied to a completely different region</a:t>
            </a:r>
          </a:p>
          <a:p>
            <a:pPr lvl="2"/>
            <a:r>
              <a:rPr lang="en-US" dirty="0" smtClean="0"/>
              <a:t>In this case, the pointer returned will be different from the </a:t>
            </a:r>
            <a:r>
              <a:rPr lang="en-US" dirty="0" err="1" smtClean="0">
                <a:latin typeface="Lucida Console" pitchFamily="49" charset="0"/>
              </a:rPr>
              <a:t>ptr</a:t>
            </a:r>
            <a:r>
              <a:rPr lang="en-US" dirty="0" smtClean="0"/>
              <a:t> argument, and </a:t>
            </a:r>
            <a:r>
              <a:rPr lang="en-US" dirty="0" err="1" smtClean="0">
                <a:latin typeface="Lucida Console" pitchFamily="49" charset="0"/>
              </a:rPr>
              <a:t>ptr</a:t>
            </a:r>
            <a:r>
              <a:rPr lang="en-US" dirty="0" smtClean="0"/>
              <a:t> will no longer point to a valid memory region</a:t>
            </a:r>
          </a:p>
          <a:p>
            <a:r>
              <a:rPr lang="en-US" dirty="0" smtClean="0"/>
              <a:t>If </a:t>
            </a:r>
            <a:r>
              <a:rPr lang="en-US" sz="2000" dirty="0" err="1" smtClean="0">
                <a:latin typeface="Lucida Console" pitchFamily="49" charset="0"/>
              </a:rPr>
              <a:t>ptr</a:t>
            </a:r>
            <a:r>
              <a:rPr lang="en-US" dirty="0" smtClean="0"/>
              <a:t> is </a:t>
            </a:r>
            <a:r>
              <a:rPr lang="en-US" sz="2000" dirty="0" smtClean="0">
                <a:latin typeface="Lucida Console" pitchFamily="49" charset="0"/>
              </a:rPr>
              <a:t>NULL</a:t>
            </a:r>
            <a:r>
              <a:rPr lang="en-US" dirty="0" smtClean="0"/>
              <a:t>, </a:t>
            </a:r>
            <a:r>
              <a:rPr lang="en-US" dirty="0" err="1" smtClean="0">
                <a:latin typeface="Lucida Console" pitchFamily="49" charset="0"/>
              </a:rPr>
              <a:t>realloc</a:t>
            </a:r>
            <a:r>
              <a:rPr lang="en-US" dirty="0" smtClean="0"/>
              <a:t> is identical to </a:t>
            </a:r>
            <a:r>
              <a:rPr lang="en-US" sz="2000" dirty="0" err="1" smtClean="0">
                <a:latin typeface="Lucida Console" pitchFamily="49" charset="0"/>
              </a:rPr>
              <a:t>malloc</a:t>
            </a:r>
            <a:endParaRPr lang="en-US" sz="2000" dirty="0" smtClean="0">
              <a:latin typeface="Lucida Console" pitchFamily="49" charset="0"/>
            </a:endParaRPr>
          </a:p>
          <a:p>
            <a:endParaRPr lang="en-US" dirty="0" smtClean="0"/>
          </a:p>
          <a:p>
            <a:r>
              <a:rPr lang="en-US" dirty="0" smtClean="0"/>
              <a:t>Note: may need to cast return value of </a:t>
            </a:r>
            <a:r>
              <a:rPr lang="en-US" sz="2000" dirty="0" err="1" smtClean="0">
                <a:latin typeface="Lucida Console" pitchFamily="49" charset="0"/>
              </a:rPr>
              <a:t>malloc</a:t>
            </a:r>
            <a:r>
              <a:rPr lang="en-US" sz="2000" dirty="0" smtClean="0">
                <a:latin typeface="Lucida Console" pitchFamily="49" charset="0"/>
              </a:rPr>
              <a:t>/</a:t>
            </a:r>
            <a:r>
              <a:rPr lang="en-US" sz="2000" dirty="0" err="1" smtClean="0">
                <a:latin typeface="Lucida Console" pitchFamily="49" charset="0"/>
              </a:rPr>
              <a:t>calloc</a:t>
            </a:r>
            <a:r>
              <a:rPr lang="en-US" sz="2000" dirty="0" smtClean="0">
                <a:latin typeface="Lucida Console" pitchFamily="49" charset="0"/>
              </a:rPr>
              <a:t>/</a:t>
            </a:r>
            <a:r>
              <a:rPr lang="en-US" sz="2000" dirty="0" err="1" smtClean="0">
                <a:latin typeface="Lucida Console" pitchFamily="49" charset="0"/>
              </a:rPr>
              <a:t>realloc</a:t>
            </a:r>
            <a:r>
              <a:rPr lang="en-US" dirty="0" smtClean="0"/>
              <a:t>:</a:t>
            </a:r>
          </a:p>
          <a:p>
            <a:pPr>
              <a:buNone/>
            </a:pPr>
            <a:r>
              <a:rPr lang="en-US" sz="2000" dirty="0" smtClean="0">
                <a:latin typeface="Lucida Console" pitchFamily="49" charset="0"/>
              </a:rPr>
              <a:t>char *p = (char *) </a:t>
            </a:r>
            <a:r>
              <a:rPr lang="en-US" sz="2000" dirty="0" err="1" smtClean="0">
                <a:latin typeface="Lucida Console" pitchFamily="49" charset="0"/>
              </a:rPr>
              <a:t>malloc</a:t>
            </a:r>
            <a:r>
              <a:rPr lang="en-US" sz="2000" dirty="0" smtClean="0">
                <a:latin typeface="Lucida Console" pitchFamily="49" charset="0"/>
              </a:rPr>
              <a:t>(BUFFER_SIZE);</a:t>
            </a:r>
            <a:endParaRPr lang="en-US" sz="2000" dirty="0">
              <a:latin typeface="Lucida Console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Deallocating</a:t>
            </a:r>
            <a:r>
              <a:rPr lang="en-US" dirty="0" smtClean="0"/>
              <a:t> heap memory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898648" y="6356350"/>
            <a:ext cx="3578352" cy="365760"/>
          </a:xfrm>
        </p:spPr>
        <p:txBody>
          <a:bodyPr/>
          <a:lstStyle/>
          <a:p>
            <a:r>
              <a:rPr lang="en-US" dirty="0" smtClean="0"/>
              <a:t>CS 3090: Safety Critical Programming in 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4ACAA-C07D-4D49-BB34-FCC94B4B114A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sz="2000" dirty="0" smtClean="0">
                <a:latin typeface="Lucida Console" pitchFamily="49" charset="0"/>
              </a:rPr>
              <a:t>void free(void *pointer);</a:t>
            </a:r>
          </a:p>
          <a:p>
            <a:r>
              <a:rPr lang="en-US" dirty="0" smtClean="0"/>
              <a:t>Given a pointer to previously allocated memory,</a:t>
            </a:r>
          </a:p>
          <a:p>
            <a:pPr lvl="1"/>
            <a:r>
              <a:rPr lang="en-US" dirty="0" smtClean="0"/>
              <a:t>put the region back in the heap of unallocated memory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Note: easy to forget to free memory when no longer needed...</a:t>
            </a:r>
          </a:p>
          <a:p>
            <a:pPr lvl="1"/>
            <a:r>
              <a:rPr lang="en-US" dirty="0" smtClean="0"/>
              <a:t>especially if you’re used to a language with “garbage collection” like Java</a:t>
            </a:r>
          </a:p>
          <a:p>
            <a:pPr lvl="1"/>
            <a:r>
              <a:rPr lang="en-US" dirty="0" smtClean="0"/>
              <a:t>This is the source of the notorious “memory leak” problem</a:t>
            </a:r>
          </a:p>
          <a:p>
            <a:pPr lvl="1"/>
            <a:r>
              <a:rPr lang="en-US" dirty="0" smtClean="0"/>
              <a:t>Difficult to trace – the program will run fine for some time, until suddenly there is no more memory!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Checking for successful allocation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898648" y="6356350"/>
            <a:ext cx="3578352" cy="365760"/>
          </a:xfrm>
        </p:spPr>
        <p:txBody>
          <a:bodyPr/>
          <a:lstStyle/>
          <a:p>
            <a:r>
              <a:rPr lang="en-US" dirty="0" smtClean="0"/>
              <a:t>CS 3090: Safety Critical Programming in 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4ACAA-C07D-4D49-BB34-FCC94B4B114A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0" y="1219200"/>
            <a:ext cx="9144000" cy="4937760"/>
          </a:xfrm>
        </p:spPr>
        <p:txBody>
          <a:bodyPr>
            <a:normAutofit/>
          </a:bodyPr>
          <a:lstStyle/>
          <a:p>
            <a:r>
              <a:rPr lang="en-US" dirty="0" smtClean="0"/>
              <a:t>Call to </a:t>
            </a:r>
            <a:r>
              <a:rPr lang="en-US" sz="2000" dirty="0" err="1" smtClean="0">
                <a:latin typeface="Lucida Console" pitchFamily="49" charset="0"/>
              </a:rPr>
              <a:t>malloc</a:t>
            </a:r>
            <a:r>
              <a:rPr lang="en-US" dirty="0" smtClean="0"/>
              <a:t> might fail to allocate memory, if there’s not enough available</a:t>
            </a:r>
          </a:p>
          <a:p>
            <a:r>
              <a:rPr lang="en-US" dirty="0" smtClean="0"/>
              <a:t>Easy to forget this check, annoying to have to do it every time </a:t>
            </a:r>
            <a:r>
              <a:rPr lang="en-US" sz="2000" dirty="0" err="1" smtClean="0">
                <a:latin typeface="Lucida Console" pitchFamily="49" charset="0"/>
              </a:rPr>
              <a:t>malloc</a:t>
            </a:r>
            <a:r>
              <a:rPr lang="en-US" dirty="0" smtClean="0"/>
              <a:t> is called...</a:t>
            </a:r>
          </a:p>
          <a:p>
            <a:endParaRPr lang="en-US" dirty="0" smtClean="0"/>
          </a:p>
          <a:p>
            <a:r>
              <a:rPr lang="en-US" dirty="0" smtClean="0"/>
              <a:t>Reek’s solution:</a:t>
            </a:r>
          </a:p>
          <a:p>
            <a:pPr>
              <a:buNone/>
            </a:pPr>
            <a:r>
              <a:rPr lang="en-US" sz="2000" dirty="0" smtClean="0">
                <a:latin typeface="Lucida Console" pitchFamily="49" charset="0"/>
              </a:rPr>
              <a:t>#define </a:t>
            </a:r>
            <a:r>
              <a:rPr lang="en-US" sz="2000" dirty="0" err="1" smtClean="0">
                <a:latin typeface="Lucida Console" pitchFamily="49" charset="0"/>
              </a:rPr>
              <a:t>malloc</a:t>
            </a:r>
            <a:r>
              <a:rPr lang="en-US" sz="2000" dirty="0" smtClean="0">
                <a:latin typeface="Lucida Console" pitchFamily="49" charset="0"/>
              </a:rPr>
              <a:t>	DON’T CALL </a:t>
            </a:r>
            <a:r>
              <a:rPr lang="en-US" sz="2000" dirty="0" err="1" smtClean="0">
                <a:latin typeface="Lucida Console" pitchFamily="49" charset="0"/>
              </a:rPr>
              <a:t>malloc</a:t>
            </a:r>
            <a:r>
              <a:rPr lang="en-US" sz="2000" dirty="0" smtClean="0">
                <a:latin typeface="Lucida Console" pitchFamily="49" charset="0"/>
              </a:rPr>
              <a:t> DIRECTLY!</a:t>
            </a:r>
          </a:p>
          <a:p>
            <a:pPr>
              <a:buNone/>
            </a:pPr>
            <a:r>
              <a:rPr lang="en-US" sz="2000" dirty="0" smtClean="0">
                <a:latin typeface="Lucida Console" pitchFamily="49" charset="0"/>
              </a:rPr>
              <a:t>#define MALLOC(</a:t>
            </a:r>
            <a:r>
              <a:rPr lang="en-US" sz="2000" dirty="0" err="1" smtClean="0">
                <a:latin typeface="Lucida Console" pitchFamily="49" charset="0"/>
              </a:rPr>
              <a:t>num,type</a:t>
            </a:r>
            <a:r>
              <a:rPr lang="en-US" sz="2000" dirty="0" smtClean="0">
                <a:latin typeface="Lucida Console" pitchFamily="49" charset="0"/>
              </a:rPr>
              <a:t>) (type *)</a:t>
            </a:r>
            <a:r>
              <a:rPr lang="en-US" sz="2000" dirty="0" err="1" smtClean="0">
                <a:latin typeface="Lucida Console" pitchFamily="49" charset="0"/>
              </a:rPr>
              <a:t>alloc</a:t>
            </a:r>
            <a:r>
              <a:rPr lang="en-US" sz="2000" dirty="0" smtClean="0">
                <a:latin typeface="Lucida Console" pitchFamily="49" charset="0"/>
              </a:rPr>
              <a:t>((num)*</a:t>
            </a:r>
            <a:r>
              <a:rPr lang="en-US" sz="2000" dirty="0" err="1" smtClean="0">
                <a:latin typeface="Lucida Console" pitchFamily="49" charset="0"/>
              </a:rPr>
              <a:t>sizeof</a:t>
            </a:r>
            <a:r>
              <a:rPr lang="en-US" sz="2000" dirty="0" smtClean="0">
                <a:latin typeface="Lucida Console" pitchFamily="49" charset="0"/>
              </a:rPr>
              <a:t>(type))</a:t>
            </a:r>
          </a:p>
          <a:p>
            <a:pPr>
              <a:buNone/>
            </a:pPr>
            <a:r>
              <a:rPr lang="en-US" sz="2000" dirty="0" smtClean="0">
                <a:latin typeface="Lucida Console" pitchFamily="49" charset="0"/>
              </a:rPr>
              <a:t>extern void *</a:t>
            </a:r>
            <a:r>
              <a:rPr lang="en-US" sz="2000" dirty="0" err="1" smtClean="0">
                <a:latin typeface="Lucida Console" pitchFamily="49" charset="0"/>
              </a:rPr>
              <a:t>alloc</a:t>
            </a:r>
            <a:r>
              <a:rPr lang="en-US" sz="2000" dirty="0" smtClean="0">
                <a:latin typeface="Lucida Console" pitchFamily="49" charset="0"/>
              </a:rPr>
              <a:t>(</a:t>
            </a:r>
            <a:r>
              <a:rPr lang="en-US" sz="2000" dirty="0" err="1" smtClean="0">
                <a:latin typeface="Lucida Console" pitchFamily="49" charset="0"/>
              </a:rPr>
              <a:t>size_t</a:t>
            </a:r>
            <a:r>
              <a:rPr lang="en-US" sz="2000" dirty="0" smtClean="0">
                <a:latin typeface="Lucida Console" pitchFamily="49" charset="0"/>
              </a:rPr>
              <a:t> size);</a:t>
            </a:r>
          </a:p>
          <a:p>
            <a:pPr>
              <a:buNone/>
            </a:pPr>
            <a:endParaRPr lang="en-US" sz="2000" dirty="0" smtClean="0">
              <a:latin typeface="Lucida Console" pitchFamily="49" charset="0"/>
            </a:endParaRPr>
          </a:p>
        </p:txBody>
      </p:sp>
      <p:sp>
        <p:nvSpPr>
          <p:cNvPr id="6" name="Line Callout 1 5"/>
          <p:cNvSpPr/>
          <p:nvPr/>
        </p:nvSpPr>
        <p:spPr>
          <a:xfrm>
            <a:off x="5029200" y="2971800"/>
            <a:ext cx="3810000" cy="609600"/>
          </a:xfrm>
          <a:prstGeom prst="borderCallout1">
            <a:avLst>
              <a:gd name="adj1" fmla="val 49856"/>
              <a:gd name="adj2" fmla="val -204"/>
              <a:gd name="adj3" fmla="val 165726"/>
              <a:gd name="adj4" fmla="val -40085"/>
            </a:avLst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Garbage inserted into source code if programmer uses </a:t>
            </a:r>
            <a:r>
              <a:rPr lang="en-US" sz="2000" dirty="0" err="1" smtClean="0">
                <a:latin typeface="Lucida Console" pitchFamily="49" charset="0"/>
              </a:rPr>
              <a:t>malloc</a:t>
            </a:r>
            <a:endParaRPr lang="en-US" sz="2000" dirty="0" smtClean="0">
              <a:latin typeface="Lucida Console" pitchFamily="49" charset="0"/>
            </a:endParaRPr>
          </a:p>
        </p:txBody>
      </p:sp>
      <p:sp>
        <p:nvSpPr>
          <p:cNvPr id="7" name="Line Callout 1 6"/>
          <p:cNvSpPr/>
          <p:nvPr/>
        </p:nvSpPr>
        <p:spPr>
          <a:xfrm>
            <a:off x="4876800" y="4953000"/>
            <a:ext cx="4191000" cy="1143000"/>
          </a:xfrm>
          <a:prstGeom prst="borderCallout1">
            <a:avLst>
              <a:gd name="adj1" fmla="val 2114"/>
              <a:gd name="adj2" fmla="val 19934"/>
              <a:gd name="adj3" fmla="val -30403"/>
              <a:gd name="adj4" fmla="val -9821"/>
            </a:avLst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Use </a:t>
            </a:r>
            <a:r>
              <a:rPr lang="en-US" sz="2000" dirty="0" smtClean="0">
                <a:latin typeface="Lucida Console" pitchFamily="49" charset="0"/>
              </a:rPr>
              <a:t>MALLOC</a:t>
            </a:r>
            <a:r>
              <a:rPr lang="en-US" dirty="0" smtClean="0"/>
              <a:t> instead...</a:t>
            </a:r>
          </a:p>
          <a:p>
            <a:pPr algn="ctr"/>
            <a:r>
              <a:rPr lang="en-US" dirty="0" smtClean="0"/>
              <a:t>Scales memory region appropriately</a:t>
            </a:r>
          </a:p>
          <a:p>
            <a:pPr algn="ctr"/>
            <a:r>
              <a:rPr lang="en-US" dirty="0" smtClean="0"/>
              <a:t>(Note use of parameters in </a:t>
            </a:r>
            <a:r>
              <a:rPr lang="en-US" sz="2000" dirty="0" smtClean="0">
                <a:latin typeface="Lucida Console" pitchFamily="49" charset="0"/>
              </a:rPr>
              <a:t>#define</a:t>
            </a:r>
            <a:r>
              <a:rPr lang="en-US" dirty="0" smtClean="0"/>
              <a:t>)</a:t>
            </a:r>
          </a:p>
          <a:p>
            <a:pPr algn="ctr"/>
            <a:r>
              <a:rPr lang="en-US" dirty="0" smtClean="0"/>
              <a:t>Also, calls “safe” </a:t>
            </a:r>
            <a:r>
              <a:rPr lang="en-US" sz="2000" dirty="0" err="1" smtClean="0">
                <a:latin typeface="Lucida Console" pitchFamily="49" charset="0"/>
              </a:rPr>
              <a:t>alloc</a:t>
            </a:r>
            <a:r>
              <a:rPr lang="en-US" dirty="0" smtClean="0"/>
              <a:t> function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Checking for successful allocation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898648" y="6356350"/>
            <a:ext cx="3578352" cy="365760"/>
          </a:xfrm>
        </p:spPr>
        <p:txBody>
          <a:bodyPr/>
          <a:lstStyle/>
          <a:p>
            <a:r>
              <a:rPr lang="en-US" dirty="0" smtClean="0"/>
              <a:t>CS 3090: Safety Critical Programming in 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4ACAA-C07D-4D49-BB34-FCC94B4B114A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implementation of </a:t>
            </a:r>
            <a:r>
              <a:rPr lang="en-US" sz="2000" dirty="0" err="1" smtClean="0">
                <a:latin typeface="Lucida Console" pitchFamily="49" charset="0"/>
              </a:rPr>
              <a:t>alloc</a:t>
            </a:r>
            <a:r>
              <a:rPr lang="en-US" dirty="0" smtClean="0"/>
              <a:t>:</a:t>
            </a:r>
          </a:p>
          <a:p>
            <a:pPr>
              <a:buNone/>
            </a:pPr>
            <a:r>
              <a:rPr lang="en-US" sz="2000" dirty="0" smtClean="0">
                <a:latin typeface="Lucida Console" pitchFamily="49" charset="0"/>
              </a:rPr>
              <a:t>#</a:t>
            </a:r>
            <a:r>
              <a:rPr lang="en-US" sz="2000" dirty="0" err="1" smtClean="0">
                <a:latin typeface="Lucida Console" pitchFamily="49" charset="0"/>
              </a:rPr>
              <a:t>undef</a:t>
            </a:r>
            <a:r>
              <a:rPr lang="en-US" sz="2000" dirty="0" smtClean="0">
                <a:latin typeface="Lucida Console" pitchFamily="49" charset="0"/>
              </a:rPr>
              <a:t> </a:t>
            </a:r>
            <a:r>
              <a:rPr lang="en-US" sz="2000" dirty="0" err="1" smtClean="0">
                <a:latin typeface="Lucida Console" pitchFamily="49" charset="0"/>
              </a:rPr>
              <a:t>malloc</a:t>
            </a:r>
            <a:endParaRPr lang="en-US" sz="2000" dirty="0" smtClean="0">
              <a:latin typeface="Lucida Console" pitchFamily="49" charset="0"/>
            </a:endParaRPr>
          </a:p>
          <a:p>
            <a:pPr>
              <a:buNone/>
            </a:pPr>
            <a:endParaRPr lang="en-US" sz="2000" dirty="0" smtClean="0">
              <a:latin typeface="Lucida Console" pitchFamily="49" charset="0"/>
            </a:endParaRPr>
          </a:p>
          <a:p>
            <a:pPr>
              <a:buNone/>
            </a:pPr>
            <a:r>
              <a:rPr lang="en-US" sz="2000" dirty="0" smtClean="0">
                <a:latin typeface="Lucida Console" pitchFamily="49" charset="0"/>
              </a:rPr>
              <a:t>void *</a:t>
            </a:r>
            <a:r>
              <a:rPr lang="en-US" sz="2000" dirty="0" err="1" smtClean="0">
                <a:latin typeface="Lucida Console" pitchFamily="49" charset="0"/>
              </a:rPr>
              <a:t>alloc</a:t>
            </a:r>
            <a:r>
              <a:rPr lang="en-US" sz="2000" dirty="0" smtClean="0">
                <a:latin typeface="Lucida Console" pitchFamily="49" charset="0"/>
              </a:rPr>
              <a:t>(</a:t>
            </a:r>
            <a:r>
              <a:rPr lang="en-US" sz="2000" dirty="0" err="1" smtClean="0">
                <a:latin typeface="Lucida Console" pitchFamily="49" charset="0"/>
              </a:rPr>
              <a:t>size_t</a:t>
            </a:r>
            <a:r>
              <a:rPr lang="en-US" sz="2000" dirty="0" smtClean="0">
                <a:latin typeface="Lucida Console" pitchFamily="49" charset="0"/>
              </a:rPr>
              <a:t> size) {</a:t>
            </a:r>
          </a:p>
          <a:p>
            <a:pPr>
              <a:buNone/>
            </a:pPr>
            <a:r>
              <a:rPr lang="en-US" sz="2000" dirty="0" smtClean="0">
                <a:latin typeface="Lucida Console" pitchFamily="49" charset="0"/>
              </a:rPr>
              <a:t>  void *</a:t>
            </a:r>
            <a:r>
              <a:rPr lang="en-US" sz="2000" dirty="0" err="1" smtClean="0">
                <a:latin typeface="Lucida Console" pitchFamily="49" charset="0"/>
              </a:rPr>
              <a:t>new_mem</a:t>
            </a:r>
            <a:r>
              <a:rPr lang="en-US" sz="2000" dirty="0" smtClean="0">
                <a:latin typeface="Lucida Console" pitchFamily="49" charset="0"/>
              </a:rPr>
              <a:t>;</a:t>
            </a:r>
          </a:p>
          <a:p>
            <a:pPr>
              <a:buNone/>
            </a:pPr>
            <a:r>
              <a:rPr lang="en-US" sz="2000" dirty="0" smtClean="0">
                <a:latin typeface="Lucida Console" pitchFamily="49" charset="0"/>
              </a:rPr>
              <a:t>  </a:t>
            </a:r>
            <a:r>
              <a:rPr lang="en-US" sz="2000" dirty="0" err="1" smtClean="0">
                <a:latin typeface="Lucida Console" pitchFamily="49" charset="0"/>
              </a:rPr>
              <a:t>new_mem</a:t>
            </a:r>
            <a:r>
              <a:rPr lang="en-US" sz="2000" dirty="0" smtClean="0">
                <a:latin typeface="Lucida Console" pitchFamily="49" charset="0"/>
              </a:rPr>
              <a:t> = </a:t>
            </a:r>
            <a:r>
              <a:rPr lang="en-US" sz="2000" dirty="0" err="1" smtClean="0">
                <a:latin typeface="Lucida Console" pitchFamily="49" charset="0"/>
              </a:rPr>
              <a:t>malloc</a:t>
            </a:r>
            <a:r>
              <a:rPr lang="en-US" sz="2000" dirty="0" smtClean="0">
                <a:latin typeface="Lucida Console" pitchFamily="49" charset="0"/>
              </a:rPr>
              <a:t>(size);</a:t>
            </a:r>
          </a:p>
          <a:p>
            <a:pPr>
              <a:buNone/>
            </a:pPr>
            <a:r>
              <a:rPr lang="en-US" sz="2000" dirty="0" smtClean="0">
                <a:latin typeface="Lucida Console" pitchFamily="49" charset="0"/>
              </a:rPr>
              <a:t>  if (</a:t>
            </a:r>
            <a:r>
              <a:rPr lang="en-US" sz="2000" dirty="0" err="1" smtClean="0">
                <a:latin typeface="Lucida Console" pitchFamily="49" charset="0"/>
              </a:rPr>
              <a:t>new_mem</a:t>
            </a:r>
            <a:r>
              <a:rPr lang="en-US" sz="2000" dirty="0" smtClean="0">
                <a:latin typeface="Lucida Console" pitchFamily="49" charset="0"/>
              </a:rPr>
              <a:t> == NULL) exit(1);</a:t>
            </a:r>
          </a:p>
          <a:p>
            <a:pPr>
              <a:buNone/>
            </a:pPr>
            <a:r>
              <a:rPr lang="en-US" sz="2000" dirty="0" smtClean="0">
                <a:latin typeface="Lucida Console" pitchFamily="49" charset="0"/>
              </a:rPr>
              <a:t>  return </a:t>
            </a:r>
            <a:r>
              <a:rPr lang="en-US" sz="2000" dirty="0" err="1" smtClean="0">
                <a:latin typeface="Lucida Console" pitchFamily="49" charset="0"/>
              </a:rPr>
              <a:t>new_mem</a:t>
            </a:r>
            <a:r>
              <a:rPr lang="en-US" sz="2000" dirty="0" smtClean="0">
                <a:latin typeface="Lucida Console" pitchFamily="49" charset="0"/>
              </a:rPr>
              <a:t>;</a:t>
            </a:r>
          </a:p>
          <a:p>
            <a:pPr>
              <a:buNone/>
            </a:pPr>
            <a:r>
              <a:rPr lang="en-US" sz="2000" dirty="0" smtClean="0">
                <a:latin typeface="Lucida Console" pitchFamily="49" charset="0"/>
              </a:rPr>
              <a:t>}</a:t>
            </a:r>
          </a:p>
          <a:p>
            <a:r>
              <a:rPr lang="en-US" dirty="0" smtClean="0"/>
              <a:t>Nice solution – as long as “terminate the program” is always the right response</a:t>
            </a:r>
            <a:endParaRPr lang="en-US" dirty="0" smtClean="0">
              <a:latin typeface="Lucida Console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Memory errors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898648" y="6356350"/>
            <a:ext cx="3578352" cy="501650"/>
          </a:xfrm>
        </p:spPr>
        <p:txBody>
          <a:bodyPr/>
          <a:lstStyle/>
          <a:p>
            <a:r>
              <a:rPr lang="en-US" dirty="0" smtClean="0"/>
              <a:t>CS 3090: Safety Critical Programming in 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4ACAA-C07D-4D49-BB34-FCC94B4B114A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Using memory that you have not initialized</a:t>
            </a:r>
          </a:p>
          <a:p>
            <a:endParaRPr lang="en-US" sz="2800" dirty="0" smtClean="0"/>
          </a:p>
          <a:p>
            <a:r>
              <a:rPr lang="en-US" sz="2800" dirty="0" smtClean="0"/>
              <a:t>Using memory that you do not own</a:t>
            </a:r>
          </a:p>
          <a:p>
            <a:endParaRPr lang="en-US" sz="2800" dirty="0" smtClean="0"/>
          </a:p>
          <a:p>
            <a:r>
              <a:rPr lang="en-US" sz="2800" dirty="0" smtClean="0"/>
              <a:t>Using more memory than you have allocated</a:t>
            </a:r>
          </a:p>
          <a:p>
            <a:endParaRPr lang="en-US" sz="2800" dirty="0" smtClean="0"/>
          </a:p>
          <a:p>
            <a:r>
              <a:rPr lang="en-US" sz="2800" dirty="0" smtClean="0"/>
              <a:t>Using faulty heap memory management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Using memory that you have not initialized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898648" y="6356350"/>
            <a:ext cx="3578352" cy="501650"/>
          </a:xfrm>
        </p:spPr>
        <p:txBody>
          <a:bodyPr/>
          <a:lstStyle/>
          <a:p>
            <a:r>
              <a:rPr lang="en-US" dirty="0" smtClean="0"/>
              <a:t>CS 3090: Safety Critical Programming in 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4ACAA-C07D-4D49-BB34-FCC94B4B114A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Uninitialized memory read</a:t>
            </a:r>
          </a:p>
          <a:p>
            <a:r>
              <a:rPr lang="en-US" dirty="0" smtClean="0"/>
              <a:t>Uninitialized memory copy</a:t>
            </a:r>
          </a:p>
          <a:p>
            <a:pPr lvl="1"/>
            <a:r>
              <a:rPr lang="en-US" dirty="0" smtClean="0"/>
              <a:t>not necessarily critical – unless a memory read follows</a:t>
            </a:r>
          </a:p>
          <a:p>
            <a:pPr>
              <a:buNone/>
            </a:pPr>
            <a:endParaRPr lang="en-US" sz="2200" dirty="0" smtClean="0">
              <a:latin typeface="Lucida Console" pitchFamily="49" charset="0"/>
            </a:endParaRPr>
          </a:p>
          <a:p>
            <a:pPr>
              <a:buNone/>
            </a:pPr>
            <a:r>
              <a:rPr lang="en-US" sz="2200" dirty="0" smtClean="0">
                <a:latin typeface="Lucida Console" pitchFamily="49" charset="0"/>
              </a:rPr>
              <a:t>void </a:t>
            </a:r>
            <a:r>
              <a:rPr lang="en-US" sz="2200" dirty="0" err="1" smtClean="0">
                <a:latin typeface="Lucida Console" pitchFamily="49" charset="0"/>
              </a:rPr>
              <a:t>foo</a:t>
            </a:r>
            <a:r>
              <a:rPr lang="en-US" sz="2200" dirty="0" smtClean="0">
                <a:latin typeface="Lucida Console" pitchFamily="49" charset="0"/>
              </a:rPr>
              <a:t>(</a:t>
            </a:r>
            <a:r>
              <a:rPr lang="en-US" sz="2200" dirty="0" err="1" smtClean="0">
                <a:latin typeface="Lucida Console" pitchFamily="49" charset="0"/>
              </a:rPr>
              <a:t>int</a:t>
            </a:r>
            <a:r>
              <a:rPr lang="en-US" sz="2200" dirty="0" smtClean="0">
                <a:latin typeface="Lucida Console" pitchFamily="49" charset="0"/>
              </a:rPr>
              <a:t> *pi) {</a:t>
            </a:r>
          </a:p>
          <a:p>
            <a:pPr>
              <a:buNone/>
            </a:pPr>
            <a:r>
              <a:rPr lang="en-US" sz="2200" dirty="0" smtClean="0">
                <a:latin typeface="Lucida Console" pitchFamily="49" charset="0"/>
              </a:rPr>
              <a:t>	</a:t>
            </a:r>
            <a:r>
              <a:rPr lang="en-US" sz="2200" dirty="0" err="1" smtClean="0">
                <a:latin typeface="Lucida Console" pitchFamily="49" charset="0"/>
              </a:rPr>
              <a:t>int</a:t>
            </a:r>
            <a:r>
              <a:rPr lang="en-US" sz="2200" dirty="0" smtClean="0">
                <a:latin typeface="Lucida Console" pitchFamily="49" charset="0"/>
              </a:rPr>
              <a:t> j;</a:t>
            </a:r>
          </a:p>
          <a:p>
            <a:pPr>
              <a:buNone/>
            </a:pPr>
            <a:r>
              <a:rPr lang="en-US" sz="2200" dirty="0" smtClean="0">
                <a:latin typeface="Lucida Console" pitchFamily="49" charset="0"/>
              </a:rPr>
              <a:t>	*pi = j;</a:t>
            </a:r>
          </a:p>
          <a:p>
            <a:pPr>
              <a:buNone/>
            </a:pPr>
            <a:r>
              <a:rPr lang="en-US" sz="2200" dirty="0" smtClean="0">
                <a:latin typeface="Lucida Console" pitchFamily="49" charset="0"/>
              </a:rPr>
              <a:t>	/* UMC: j is uninitialized, copied into *pi */</a:t>
            </a:r>
          </a:p>
          <a:p>
            <a:pPr>
              <a:buNone/>
            </a:pPr>
            <a:r>
              <a:rPr lang="en-US" sz="2200" dirty="0" smtClean="0">
                <a:latin typeface="Lucida Console" pitchFamily="49" charset="0"/>
              </a:rPr>
              <a:t>}</a:t>
            </a:r>
          </a:p>
          <a:p>
            <a:pPr>
              <a:buNone/>
            </a:pPr>
            <a:r>
              <a:rPr lang="en-US" sz="2200" dirty="0" smtClean="0">
                <a:latin typeface="Lucida Console" pitchFamily="49" charset="0"/>
              </a:rPr>
              <a:t>void bar() {</a:t>
            </a:r>
          </a:p>
          <a:p>
            <a:pPr>
              <a:buNone/>
            </a:pPr>
            <a:r>
              <a:rPr lang="en-US" sz="2200" dirty="0" smtClean="0">
                <a:latin typeface="Lucida Console" pitchFamily="49" charset="0"/>
              </a:rPr>
              <a:t>	</a:t>
            </a:r>
            <a:r>
              <a:rPr lang="en-US" sz="2200" dirty="0" err="1" smtClean="0">
                <a:latin typeface="Lucida Console" pitchFamily="49" charset="0"/>
              </a:rPr>
              <a:t>int</a:t>
            </a:r>
            <a:r>
              <a:rPr lang="en-US" sz="2200" dirty="0" smtClean="0">
                <a:latin typeface="Lucida Console" pitchFamily="49" charset="0"/>
              </a:rPr>
              <a:t> </a:t>
            </a:r>
            <a:r>
              <a:rPr lang="en-US" sz="2200" dirty="0" err="1" smtClean="0">
                <a:latin typeface="Lucida Console" pitchFamily="49" charset="0"/>
              </a:rPr>
              <a:t>i</a:t>
            </a:r>
            <a:r>
              <a:rPr lang="en-US" sz="2200" dirty="0" smtClean="0">
                <a:latin typeface="Lucida Console" pitchFamily="49" charset="0"/>
              </a:rPr>
              <a:t>=10;</a:t>
            </a:r>
          </a:p>
          <a:p>
            <a:pPr>
              <a:buNone/>
            </a:pPr>
            <a:r>
              <a:rPr lang="en-US" sz="2200" dirty="0" smtClean="0">
                <a:latin typeface="Lucida Console" pitchFamily="49" charset="0"/>
              </a:rPr>
              <a:t>	</a:t>
            </a:r>
            <a:r>
              <a:rPr lang="en-US" sz="2200" dirty="0" err="1" smtClean="0">
                <a:latin typeface="Lucida Console" pitchFamily="49" charset="0"/>
              </a:rPr>
              <a:t>foo</a:t>
            </a:r>
            <a:r>
              <a:rPr lang="en-US" sz="2200" dirty="0" smtClean="0">
                <a:latin typeface="Lucida Console" pitchFamily="49" charset="0"/>
              </a:rPr>
              <a:t>(&amp;</a:t>
            </a:r>
            <a:r>
              <a:rPr lang="en-US" sz="2200" dirty="0" err="1" smtClean="0">
                <a:latin typeface="Lucida Console" pitchFamily="49" charset="0"/>
              </a:rPr>
              <a:t>i</a:t>
            </a:r>
            <a:r>
              <a:rPr lang="en-US" sz="2200" dirty="0" smtClean="0">
                <a:latin typeface="Lucida Console" pitchFamily="49" charset="0"/>
              </a:rPr>
              <a:t>);</a:t>
            </a:r>
          </a:p>
          <a:p>
            <a:pPr>
              <a:buNone/>
            </a:pPr>
            <a:r>
              <a:rPr lang="en-US" sz="2200" dirty="0" smtClean="0">
                <a:latin typeface="Lucida Console" pitchFamily="49" charset="0"/>
              </a:rPr>
              <a:t>	</a:t>
            </a:r>
            <a:r>
              <a:rPr lang="en-US" sz="2200" dirty="0" err="1" smtClean="0">
                <a:latin typeface="Lucida Console" pitchFamily="49" charset="0"/>
              </a:rPr>
              <a:t>printf</a:t>
            </a:r>
            <a:r>
              <a:rPr lang="en-US" sz="2200" dirty="0" smtClean="0">
                <a:latin typeface="Lucida Console" pitchFamily="49" charset="0"/>
              </a:rPr>
              <a:t>("</a:t>
            </a:r>
            <a:r>
              <a:rPr lang="en-US" sz="2200" dirty="0" err="1" smtClean="0">
                <a:latin typeface="Lucida Console" pitchFamily="49" charset="0"/>
              </a:rPr>
              <a:t>i</a:t>
            </a:r>
            <a:r>
              <a:rPr lang="en-US" sz="2200" dirty="0" smtClean="0">
                <a:latin typeface="Lucida Console" pitchFamily="49" charset="0"/>
              </a:rPr>
              <a:t> = %d\n", </a:t>
            </a:r>
            <a:r>
              <a:rPr lang="en-US" sz="2200" dirty="0" err="1" smtClean="0">
                <a:latin typeface="Lucida Console" pitchFamily="49" charset="0"/>
              </a:rPr>
              <a:t>i</a:t>
            </a:r>
            <a:r>
              <a:rPr lang="en-US" sz="2200" dirty="0" smtClean="0">
                <a:latin typeface="Lucida Console" pitchFamily="49" charset="0"/>
              </a:rPr>
              <a:t>);</a:t>
            </a:r>
          </a:p>
          <a:p>
            <a:pPr>
              <a:buNone/>
            </a:pPr>
            <a:r>
              <a:rPr lang="en-US" sz="2200" dirty="0" smtClean="0">
                <a:latin typeface="Lucida Console" pitchFamily="49" charset="0"/>
              </a:rPr>
              <a:t>	/* UMR: Using </a:t>
            </a:r>
            <a:r>
              <a:rPr lang="en-US" sz="2200" dirty="0" err="1" smtClean="0">
                <a:latin typeface="Lucida Console" pitchFamily="49" charset="0"/>
              </a:rPr>
              <a:t>i</a:t>
            </a:r>
            <a:r>
              <a:rPr lang="en-US" sz="2200" dirty="0" smtClean="0">
                <a:latin typeface="Lucida Console" pitchFamily="49" charset="0"/>
              </a:rPr>
              <a:t>, which is now junk value */</a:t>
            </a:r>
          </a:p>
          <a:p>
            <a:pPr>
              <a:buNone/>
            </a:pPr>
            <a:r>
              <a:rPr lang="en-US" sz="2200" dirty="0" smtClean="0">
                <a:latin typeface="Lucida Console" pitchFamily="49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Using memory that you don’t own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898648" y="6356350"/>
            <a:ext cx="3578352" cy="501650"/>
          </a:xfrm>
        </p:spPr>
        <p:txBody>
          <a:bodyPr/>
          <a:lstStyle/>
          <a:p>
            <a:r>
              <a:rPr lang="en-US" dirty="0" smtClean="0"/>
              <a:t>CS 3090: Safety Critical Programming in 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4ACAA-C07D-4D49-BB34-FCC94B4B114A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Null pointer read/write</a:t>
            </a:r>
          </a:p>
          <a:p>
            <a:r>
              <a:rPr lang="en-US" dirty="0" smtClean="0"/>
              <a:t>Zero page read/write</a:t>
            </a:r>
          </a:p>
          <a:p>
            <a:endParaRPr lang="en-US" dirty="0" smtClean="0"/>
          </a:p>
          <a:p>
            <a:pPr>
              <a:buNone/>
            </a:pPr>
            <a:r>
              <a:rPr lang="en-US" sz="2200" dirty="0" err="1" smtClean="0">
                <a:latin typeface="Lucida Console" pitchFamily="49" charset="0"/>
              </a:rPr>
              <a:t>typedef</a:t>
            </a:r>
            <a:r>
              <a:rPr lang="en-US" sz="2200" dirty="0" smtClean="0">
                <a:latin typeface="Lucida Console" pitchFamily="49" charset="0"/>
              </a:rPr>
              <a:t> </a:t>
            </a:r>
            <a:r>
              <a:rPr lang="en-US" sz="2200" dirty="0" err="1" smtClean="0">
                <a:latin typeface="Lucida Console" pitchFamily="49" charset="0"/>
              </a:rPr>
              <a:t>struct</a:t>
            </a:r>
            <a:r>
              <a:rPr lang="en-US" sz="2200" dirty="0" smtClean="0">
                <a:latin typeface="Lucida Console" pitchFamily="49" charset="0"/>
              </a:rPr>
              <a:t> node {</a:t>
            </a:r>
          </a:p>
          <a:p>
            <a:pPr>
              <a:buNone/>
            </a:pPr>
            <a:r>
              <a:rPr lang="en-US" sz="2200" dirty="0" smtClean="0">
                <a:latin typeface="Lucida Console" pitchFamily="49" charset="0"/>
              </a:rPr>
              <a:t>	</a:t>
            </a:r>
            <a:r>
              <a:rPr lang="en-US" sz="2200" dirty="0" err="1" smtClean="0">
                <a:latin typeface="Lucida Console" pitchFamily="49" charset="0"/>
              </a:rPr>
              <a:t>struct</a:t>
            </a:r>
            <a:r>
              <a:rPr lang="en-US" sz="2200" dirty="0" smtClean="0">
                <a:latin typeface="Lucida Console" pitchFamily="49" charset="0"/>
              </a:rPr>
              <a:t> node* next;</a:t>
            </a:r>
          </a:p>
          <a:p>
            <a:pPr>
              <a:buNone/>
            </a:pPr>
            <a:r>
              <a:rPr lang="en-US" sz="2200" dirty="0" smtClean="0">
                <a:latin typeface="Lucida Console" pitchFamily="49" charset="0"/>
              </a:rPr>
              <a:t>	</a:t>
            </a:r>
            <a:r>
              <a:rPr lang="en-US" sz="2200" dirty="0" err="1" smtClean="0">
                <a:latin typeface="Lucida Console" pitchFamily="49" charset="0"/>
              </a:rPr>
              <a:t>int</a:t>
            </a:r>
            <a:r>
              <a:rPr lang="en-US" sz="2200" dirty="0" smtClean="0">
                <a:latin typeface="Lucida Console" pitchFamily="49" charset="0"/>
              </a:rPr>
              <a:t> </a:t>
            </a:r>
            <a:r>
              <a:rPr lang="en-US" sz="2200" dirty="0" err="1" smtClean="0">
                <a:latin typeface="Lucida Console" pitchFamily="49" charset="0"/>
              </a:rPr>
              <a:t>val</a:t>
            </a:r>
            <a:r>
              <a:rPr lang="en-US" sz="2200" dirty="0" smtClean="0">
                <a:latin typeface="Lucida Console" pitchFamily="49" charset="0"/>
              </a:rPr>
              <a:t>;</a:t>
            </a:r>
          </a:p>
          <a:p>
            <a:pPr>
              <a:buNone/>
            </a:pPr>
            <a:r>
              <a:rPr lang="en-US" sz="2200" dirty="0" smtClean="0">
                <a:latin typeface="Lucida Console" pitchFamily="49" charset="0"/>
              </a:rPr>
              <a:t>} Node;</a:t>
            </a:r>
          </a:p>
          <a:p>
            <a:pPr>
              <a:buNone/>
            </a:pPr>
            <a:endParaRPr lang="en-US" sz="2200" dirty="0" smtClean="0">
              <a:latin typeface="Lucida Console" pitchFamily="49" charset="0"/>
            </a:endParaRPr>
          </a:p>
          <a:p>
            <a:pPr>
              <a:buNone/>
            </a:pPr>
            <a:r>
              <a:rPr lang="en-US" sz="2200" dirty="0" err="1" smtClean="0">
                <a:latin typeface="Lucida Console" pitchFamily="49" charset="0"/>
              </a:rPr>
              <a:t>int</a:t>
            </a:r>
            <a:r>
              <a:rPr lang="en-US" sz="2200" dirty="0" smtClean="0">
                <a:latin typeface="Lucida Console" pitchFamily="49" charset="0"/>
              </a:rPr>
              <a:t> </a:t>
            </a:r>
            <a:r>
              <a:rPr lang="en-US" sz="2200" dirty="0" err="1" smtClean="0">
                <a:latin typeface="Lucida Console" pitchFamily="49" charset="0"/>
              </a:rPr>
              <a:t>findLastNodeValue</a:t>
            </a:r>
            <a:r>
              <a:rPr lang="en-US" sz="2200" dirty="0" smtClean="0">
                <a:latin typeface="Lucida Console" pitchFamily="49" charset="0"/>
              </a:rPr>
              <a:t>(Node* head) {</a:t>
            </a:r>
          </a:p>
          <a:p>
            <a:pPr>
              <a:buNone/>
            </a:pPr>
            <a:r>
              <a:rPr lang="en-US" sz="2200" dirty="0" smtClean="0">
                <a:latin typeface="Lucida Console" pitchFamily="49" charset="0"/>
              </a:rPr>
              <a:t>	while (head-&gt;next != NULL) { /* Expect NPR */</a:t>
            </a:r>
          </a:p>
          <a:p>
            <a:pPr>
              <a:buNone/>
            </a:pPr>
            <a:r>
              <a:rPr lang="en-US" sz="2200" dirty="0" smtClean="0">
                <a:latin typeface="Lucida Console" pitchFamily="49" charset="0"/>
              </a:rPr>
              <a:t>		head = head-&gt;next;</a:t>
            </a:r>
          </a:p>
          <a:p>
            <a:pPr>
              <a:buNone/>
            </a:pPr>
            <a:r>
              <a:rPr lang="en-US" sz="2200" dirty="0" smtClean="0">
                <a:latin typeface="Lucida Console" pitchFamily="49" charset="0"/>
              </a:rPr>
              <a:t>	}</a:t>
            </a:r>
          </a:p>
          <a:p>
            <a:pPr>
              <a:buNone/>
            </a:pPr>
            <a:r>
              <a:rPr lang="en-US" sz="2200" dirty="0" smtClean="0">
                <a:latin typeface="Lucida Console" pitchFamily="49" charset="0"/>
              </a:rPr>
              <a:t>	return head-&gt;</a:t>
            </a:r>
            <a:r>
              <a:rPr lang="en-US" sz="2200" dirty="0" err="1" smtClean="0">
                <a:latin typeface="Lucida Console" pitchFamily="49" charset="0"/>
              </a:rPr>
              <a:t>val</a:t>
            </a:r>
            <a:r>
              <a:rPr lang="en-US" sz="2200" dirty="0" smtClean="0">
                <a:latin typeface="Lucida Console" pitchFamily="49" charset="0"/>
              </a:rPr>
              <a:t>; /* Expect ZPR */</a:t>
            </a:r>
          </a:p>
          <a:p>
            <a:pPr>
              <a:buNone/>
            </a:pPr>
            <a:r>
              <a:rPr lang="en-US" sz="2200" dirty="0" smtClean="0">
                <a:latin typeface="Lucida Console" pitchFamily="49" charset="0"/>
              </a:rPr>
              <a:t>}</a:t>
            </a:r>
            <a:endParaRPr lang="en-US" sz="2200" dirty="0">
              <a:latin typeface="Lucida Console" pitchFamily="49" charset="0"/>
            </a:endParaRPr>
          </a:p>
        </p:txBody>
      </p:sp>
      <p:sp>
        <p:nvSpPr>
          <p:cNvPr id="6" name="Line Callout 1 5"/>
          <p:cNvSpPr/>
          <p:nvPr/>
        </p:nvSpPr>
        <p:spPr>
          <a:xfrm>
            <a:off x="6019800" y="3200400"/>
            <a:ext cx="2667000" cy="457200"/>
          </a:xfrm>
          <a:prstGeom prst="borderCallout1">
            <a:avLst>
              <a:gd name="adj1" fmla="val 54464"/>
              <a:gd name="adj2" fmla="val -374"/>
              <a:gd name="adj3" fmla="val 155357"/>
              <a:gd name="adj4" fmla="val -35272"/>
            </a:avLst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What if </a:t>
            </a:r>
            <a:r>
              <a:rPr lang="en-US" sz="2000" dirty="0" smtClean="0">
                <a:latin typeface="Lucida Console" pitchFamily="49" charset="0"/>
              </a:rPr>
              <a:t>head</a:t>
            </a:r>
            <a:r>
              <a:rPr lang="en-US" dirty="0" smtClean="0"/>
              <a:t> is </a:t>
            </a:r>
            <a:r>
              <a:rPr lang="en-US" sz="2000" dirty="0" smtClean="0">
                <a:latin typeface="Lucida Console" pitchFamily="49" charset="0"/>
              </a:rPr>
              <a:t>NULL</a:t>
            </a:r>
            <a:r>
              <a:rPr lang="en-US" dirty="0" smtClean="0"/>
              <a:t>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Using memory that you don’t own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898648" y="6356350"/>
            <a:ext cx="3578352" cy="273050"/>
          </a:xfrm>
        </p:spPr>
        <p:txBody>
          <a:bodyPr/>
          <a:lstStyle/>
          <a:p>
            <a:r>
              <a:rPr lang="en-US" dirty="0" smtClean="0"/>
              <a:t>CS 3090: Safety Critical Programming in 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4ACAA-C07D-4D49-BB34-FCC94B4B114A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0" y="1219200"/>
            <a:ext cx="9144000" cy="4937760"/>
          </a:xfrm>
        </p:spPr>
        <p:txBody>
          <a:bodyPr>
            <a:normAutofit fontScale="77500" lnSpcReduction="20000"/>
          </a:bodyPr>
          <a:lstStyle/>
          <a:p>
            <a:r>
              <a:rPr lang="en-US" sz="3100" dirty="0" smtClean="0"/>
              <a:t>Invalid pointer read/write</a:t>
            </a:r>
          </a:p>
          <a:p>
            <a:pPr lvl="1"/>
            <a:r>
              <a:rPr lang="en-US" sz="2600" dirty="0" smtClean="0"/>
              <a:t>Pointer to memory that hasn’t been allocated to program</a:t>
            </a:r>
            <a:endParaRPr lang="en-US" dirty="0" smtClean="0"/>
          </a:p>
          <a:p>
            <a:pPr>
              <a:buNone/>
            </a:pPr>
            <a:endParaRPr lang="en-US" dirty="0" smtClean="0">
              <a:latin typeface="Lucida Console" pitchFamily="49" charset="0"/>
            </a:endParaRPr>
          </a:p>
          <a:p>
            <a:pPr>
              <a:buNone/>
            </a:pPr>
            <a:r>
              <a:rPr lang="en-US" dirty="0" smtClean="0">
                <a:latin typeface="Lucida Console" pitchFamily="49" charset="0"/>
              </a:rPr>
              <a:t>void </a:t>
            </a:r>
            <a:r>
              <a:rPr lang="en-US" dirty="0" err="1" smtClean="0">
                <a:latin typeface="Lucida Console" pitchFamily="49" charset="0"/>
              </a:rPr>
              <a:t>genIPR</a:t>
            </a:r>
            <a:r>
              <a:rPr lang="en-US" dirty="0" smtClean="0">
                <a:latin typeface="Lucida Console" pitchFamily="49" charset="0"/>
              </a:rPr>
              <a:t>() {</a:t>
            </a:r>
          </a:p>
          <a:p>
            <a:pPr>
              <a:buNone/>
            </a:pPr>
            <a:r>
              <a:rPr lang="en-US" dirty="0" smtClean="0">
                <a:latin typeface="Lucida Console" pitchFamily="49" charset="0"/>
              </a:rPr>
              <a:t>	</a:t>
            </a:r>
            <a:r>
              <a:rPr lang="en-US" dirty="0" err="1" smtClean="0">
                <a:latin typeface="Lucida Console" pitchFamily="49" charset="0"/>
              </a:rPr>
              <a:t>int</a:t>
            </a:r>
            <a:r>
              <a:rPr lang="en-US" dirty="0" smtClean="0">
                <a:latin typeface="Lucida Console" pitchFamily="49" charset="0"/>
              </a:rPr>
              <a:t> *</a:t>
            </a:r>
            <a:r>
              <a:rPr lang="en-US" dirty="0" err="1" smtClean="0">
                <a:latin typeface="Lucida Console" pitchFamily="49" charset="0"/>
              </a:rPr>
              <a:t>ipr</a:t>
            </a:r>
            <a:r>
              <a:rPr lang="en-US" dirty="0" smtClean="0">
                <a:latin typeface="Lucida Console" pitchFamily="49" charset="0"/>
              </a:rPr>
              <a:t> = (</a:t>
            </a:r>
            <a:r>
              <a:rPr lang="en-US" dirty="0" err="1" smtClean="0">
                <a:latin typeface="Lucida Console" pitchFamily="49" charset="0"/>
              </a:rPr>
              <a:t>int</a:t>
            </a:r>
            <a:r>
              <a:rPr lang="en-US" dirty="0" smtClean="0">
                <a:latin typeface="Lucida Console" pitchFamily="49" charset="0"/>
              </a:rPr>
              <a:t> *) </a:t>
            </a:r>
            <a:r>
              <a:rPr lang="en-US" dirty="0" err="1" smtClean="0">
                <a:latin typeface="Lucida Console" pitchFamily="49" charset="0"/>
              </a:rPr>
              <a:t>malloc</a:t>
            </a:r>
            <a:r>
              <a:rPr lang="en-US" dirty="0" smtClean="0">
                <a:latin typeface="Lucida Console" pitchFamily="49" charset="0"/>
              </a:rPr>
              <a:t>(4 * </a:t>
            </a:r>
            <a:r>
              <a:rPr lang="en-US" dirty="0" err="1" smtClean="0">
                <a:latin typeface="Lucida Console" pitchFamily="49" charset="0"/>
              </a:rPr>
              <a:t>sizeof</a:t>
            </a:r>
            <a:r>
              <a:rPr lang="en-US" dirty="0" smtClean="0">
                <a:latin typeface="Lucida Console" pitchFamily="49" charset="0"/>
              </a:rPr>
              <a:t>(</a:t>
            </a:r>
            <a:r>
              <a:rPr lang="en-US" dirty="0" err="1" smtClean="0">
                <a:latin typeface="Lucida Console" pitchFamily="49" charset="0"/>
              </a:rPr>
              <a:t>int</a:t>
            </a:r>
            <a:r>
              <a:rPr lang="en-US" dirty="0" smtClean="0">
                <a:latin typeface="Lucida Console" pitchFamily="49" charset="0"/>
              </a:rPr>
              <a:t>));</a:t>
            </a:r>
          </a:p>
          <a:p>
            <a:pPr>
              <a:buNone/>
            </a:pPr>
            <a:r>
              <a:rPr lang="en-US" dirty="0" smtClean="0">
                <a:latin typeface="Lucida Console" pitchFamily="49" charset="0"/>
              </a:rPr>
              <a:t>	</a:t>
            </a:r>
            <a:r>
              <a:rPr lang="en-US" dirty="0" err="1" smtClean="0">
                <a:latin typeface="Lucida Console" pitchFamily="49" charset="0"/>
              </a:rPr>
              <a:t>int</a:t>
            </a:r>
            <a:r>
              <a:rPr lang="en-US" dirty="0" smtClean="0">
                <a:latin typeface="Lucida Console" pitchFamily="49" charset="0"/>
              </a:rPr>
              <a:t> </a:t>
            </a:r>
            <a:r>
              <a:rPr lang="en-US" dirty="0" err="1" smtClean="0">
                <a:latin typeface="Lucida Console" pitchFamily="49" charset="0"/>
              </a:rPr>
              <a:t>i</a:t>
            </a:r>
            <a:r>
              <a:rPr lang="en-US" dirty="0" smtClean="0">
                <a:latin typeface="Lucida Console" pitchFamily="49" charset="0"/>
              </a:rPr>
              <a:t>, j;</a:t>
            </a:r>
          </a:p>
          <a:p>
            <a:pPr>
              <a:buNone/>
            </a:pPr>
            <a:r>
              <a:rPr lang="pt-BR" dirty="0" smtClean="0">
                <a:latin typeface="Lucida Console" pitchFamily="49" charset="0"/>
              </a:rPr>
              <a:t>	i = *(ipr - 1000); j = *(ipr + 1000); /* Expect IPR */</a:t>
            </a:r>
          </a:p>
          <a:p>
            <a:pPr>
              <a:buNone/>
            </a:pPr>
            <a:r>
              <a:rPr lang="en-US" dirty="0" smtClean="0">
                <a:latin typeface="Lucida Console" pitchFamily="49" charset="0"/>
              </a:rPr>
              <a:t>	free(</a:t>
            </a:r>
            <a:r>
              <a:rPr lang="en-US" dirty="0" err="1" smtClean="0">
                <a:latin typeface="Lucida Console" pitchFamily="49" charset="0"/>
              </a:rPr>
              <a:t>ipr</a:t>
            </a:r>
            <a:r>
              <a:rPr lang="en-US" dirty="0" smtClean="0">
                <a:latin typeface="Lucida Console" pitchFamily="49" charset="0"/>
              </a:rPr>
              <a:t>);</a:t>
            </a:r>
          </a:p>
          <a:p>
            <a:pPr>
              <a:buNone/>
            </a:pPr>
            <a:r>
              <a:rPr lang="en-US" dirty="0" smtClean="0">
                <a:latin typeface="Lucida Console" pitchFamily="49" charset="0"/>
              </a:rPr>
              <a:t>}</a:t>
            </a:r>
          </a:p>
          <a:p>
            <a:pPr>
              <a:buNone/>
            </a:pPr>
            <a:endParaRPr lang="en-US" dirty="0" smtClean="0">
              <a:latin typeface="Lucida Console" pitchFamily="49" charset="0"/>
            </a:endParaRPr>
          </a:p>
          <a:p>
            <a:pPr>
              <a:buNone/>
            </a:pPr>
            <a:r>
              <a:rPr lang="en-US" dirty="0" smtClean="0">
                <a:latin typeface="Lucida Console" pitchFamily="49" charset="0"/>
              </a:rPr>
              <a:t>void </a:t>
            </a:r>
            <a:r>
              <a:rPr lang="en-US" dirty="0" err="1" smtClean="0">
                <a:latin typeface="Lucida Console" pitchFamily="49" charset="0"/>
              </a:rPr>
              <a:t>genIPW</a:t>
            </a:r>
            <a:r>
              <a:rPr lang="en-US" dirty="0" smtClean="0">
                <a:latin typeface="Lucida Console" pitchFamily="49" charset="0"/>
              </a:rPr>
              <a:t>() {</a:t>
            </a:r>
          </a:p>
          <a:p>
            <a:pPr>
              <a:buNone/>
            </a:pPr>
            <a:r>
              <a:rPr lang="en-US" dirty="0" smtClean="0">
                <a:latin typeface="Lucida Console" pitchFamily="49" charset="0"/>
              </a:rPr>
              <a:t>	</a:t>
            </a:r>
            <a:r>
              <a:rPr lang="en-US" dirty="0" err="1" smtClean="0">
                <a:latin typeface="Lucida Console" pitchFamily="49" charset="0"/>
              </a:rPr>
              <a:t>int</a:t>
            </a:r>
            <a:r>
              <a:rPr lang="en-US" dirty="0" smtClean="0">
                <a:latin typeface="Lucida Console" pitchFamily="49" charset="0"/>
              </a:rPr>
              <a:t> *</a:t>
            </a:r>
            <a:r>
              <a:rPr lang="en-US" dirty="0" err="1" smtClean="0">
                <a:latin typeface="Lucida Console" pitchFamily="49" charset="0"/>
              </a:rPr>
              <a:t>ipw</a:t>
            </a:r>
            <a:r>
              <a:rPr lang="en-US" dirty="0" smtClean="0">
                <a:latin typeface="Lucida Console" pitchFamily="49" charset="0"/>
              </a:rPr>
              <a:t> = (</a:t>
            </a:r>
            <a:r>
              <a:rPr lang="en-US" dirty="0" err="1" smtClean="0">
                <a:latin typeface="Lucida Console" pitchFamily="49" charset="0"/>
              </a:rPr>
              <a:t>int</a:t>
            </a:r>
            <a:r>
              <a:rPr lang="en-US" dirty="0" smtClean="0">
                <a:latin typeface="Lucida Console" pitchFamily="49" charset="0"/>
              </a:rPr>
              <a:t> *) </a:t>
            </a:r>
            <a:r>
              <a:rPr lang="en-US" dirty="0" err="1" smtClean="0">
                <a:latin typeface="Lucida Console" pitchFamily="49" charset="0"/>
              </a:rPr>
              <a:t>malloc</a:t>
            </a:r>
            <a:r>
              <a:rPr lang="en-US" dirty="0" smtClean="0">
                <a:latin typeface="Lucida Console" pitchFamily="49" charset="0"/>
              </a:rPr>
              <a:t>(5 * </a:t>
            </a:r>
            <a:r>
              <a:rPr lang="en-US" dirty="0" err="1" smtClean="0">
                <a:latin typeface="Lucida Console" pitchFamily="49" charset="0"/>
              </a:rPr>
              <a:t>sizeof</a:t>
            </a:r>
            <a:r>
              <a:rPr lang="en-US" dirty="0" smtClean="0">
                <a:latin typeface="Lucida Console" pitchFamily="49" charset="0"/>
              </a:rPr>
              <a:t>(</a:t>
            </a:r>
            <a:r>
              <a:rPr lang="en-US" dirty="0" err="1" smtClean="0">
                <a:latin typeface="Lucida Console" pitchFamily="49" charset="0"/>
              </a:rPr>
              <a:t>int</a:t>
            </a:r>
            <a:r>
              <a:rPr lang="en-US" dirty="0" smtClean="0">
                <a:latin typeface="Lucida Console" pitchFamily="49" charset="0"/>
              </a:rPr>
              <a:t>));</a:t>
            </a:r>
          </a:p>
          <a:p>
            <a:pPr>
              <a:buNone/>
            </a:pPr>
            <a:r>
              <a:rPr lang="en-US" dirty="0" smtClean="0">
                <a:latin typeface="Lucida Console" pitchFamily="49" charset="0"/>
              </a:rPr>
              <a:t>	*(</a:t>
            </a:r>
            <a:r>
              <a:rPr lang="en-US" dirty="0" err="1" smtClean="0">
                <a:latin typeface="Lucida Console" pitchFamily="49" charset="0"/>
              </a:rPr>
              <a:t>ipw</a:t>
            </a:r>
            <a:r>
              <a:rPr lang="en-US" dirty="0" smtClean="0">
                <a:latin typeface="Lucida Console" pitchFamily="49" charset="0"/>
              </a:rPr>
              <a:t> - 1000) = 0; *(</a:t>
            </a:r>
            <a:r>
              <a:rPr lang="en-US" dirty="0" err="1" smtClean="0">
                <a:latin typeface="Lucida Console" pitchFamily="49" charset="0"/>
              </a:rPr>
              <a:t>ipw</a:t>
            </a:r>
            <a:r>
              <a:rPr lang="en-US" dirty="0" smtClean="0">
                <a:latin typeface="Lucida Console" pitchFamily="49" charset="0"/>
              </a:rPr>
              <a:t> + 1000) = 0; /* Expect IPW */</a:t>
            </a:r>
          </a:p>
          <a:p>
            <a:pPr>
              <a:buNone/>
            </a:pPr>
            <a:r>
              <a:rPr lang="en-US" dirty="0" smtClean="0">
                <a:latin typeface="Lucida Console" pitchFamily="49" charset="0"/>
              </a:rPr>
              <a:t>	free(</a:t>
            </a:r>
            <a:r>
              <a:rPr lang="en-US" dirty="0" err="1" smtClean="0">
                <a:latin typeface="Lucida Console" pitchFamily="49" charset="0"/>
              </a:rPr>
              <a:t>ipw</a:t>
            </a:r>
            <a:r>
              <a:rPr lang="en-US" dirty="0" smtClean="0">
                <a:latin typeface="Lucida Console" pitchFamily="49" charset="0"/>
              </a:rPr>
              <a:t>);</a:t>
            </a:r>
          </a:p>
          <a:p>
            <a:pPr>
              <a:buNone/>
            </a:pPr>
            <a:r>
              <a:rPr lang="en-US" dirty="0" smtClean="0">
                <a:latin typeface="Lucida Console" pitchFamily="49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Using memory that you don’t own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898648" y="6356350"/>
            <a:ext cx="3578352" cy="273050"/>
          </a:xfrm>
        </p:spPr>
        <p:txBody>
          <a:bodyPr/>
          <a:lstStyle/>
          <a:p>
            <a:r>
              <a:rPr lang="en-US" dirty="0" smtClean="0"/>
              <a:t>CS 3090: Safety Critical Programming in 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4ACAA-C07D-4D49-BB34-FCC94B4B114A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228600" y="1219200"/>
            <a:ext cx="8686800" cy="4937760"/>
          </a:xfrm>
        </p:spPr>
        <p:txBody>
          <a:bodyPr>
            <a:normAutofit/>
          </a:bodyPr>
          <a:lstStyle/>
          <a:p>
            <a:r>
              <a:rPr lang="en-US" sz="2400" dirty="0" smtClean="0"/>
              <a:t>Common error in 64-bit applications:</a:t>
            </a:r>
          </a:p>
          <a:p>
            <a:pPr lvl="1"/>
            <a:r>
              <a:rPr lang="en-US" sz="1700" dirty="0" err="1" smtClean="0">
                <a:latin typeface="Lucida Console" pitchFamily="49" charset="0"/>
              </a:rPr>
              <a:t>int</a:t>
            </a:r>
            <a:r>
              <a:rPr lang="en-US" dirty="0" err="1" smtClean="0"/>
              <a:t>s</a:t>
            </a:r>
            <a:r>
              <a:rPr lang="en-US" dirty="0" smtClean="0"/>
              <a:t> are 4 bytes but pointers are 8 bytes</a:t>
            </a:r>
          </a:p>
          <a:p>
            <a:pPr lvl="1"/>
            <a:r>
              <a:rPr lang="en-US" dirty="0" smtClean="0"/>
              <a:t>If prototype of </a:t>
            </a:r>
            <a:r>
              <a:rPr lang="en-US" sz="1700" dirty="0" err="1" smtClean="0">
                <a:latin typeface="Lucida Console" pitchFamily="49" charset="0"/>
              </a:rPr>
              <a:t>malloc</a:t>
            </a:r>
            <a:r>
              <a:rPr lang="en-US" sz="1700" dirty="0" smtClean="0">
                <a:latin typeface="Lucida Console" pitchFamily="49" charset="0"/>
              </a:rPr>
              <a:t>()</a:t>
            </a:r>
            <a:r>
              <a:rPr lang="en-US" dirty="0" smtClean="0"/>
              <a:t> not provided, return value will be cast to a 4-byte </a:t>
            </a:r>
            <a:r>
              <a:rPr lang="en-US" sz="1700" dirty="0" err="1" smtClean="0">
                <a:latin typeface="Lucida Console" pitchFamily="49" charset="0"/>
              </a:rPr>
              <a:t>int</a:t>
            </a:r>
            <a:endParaRPr lang="en-US" sz="1700" dirty="0" smtClean="0">
              <a:latin typeface="Lucida Console" pitchFamily="49" charset="0"/>
            </a:endParaRPr>
          </a:p>
          <a:p>
            <a:pPr lvl="1"/>
            <a:endParaRPr lang="en-US" dirty="0" smtClean="0"/>
          </a:p>
          <a:p>
            <a:pPr>
              <a:buNone/>
            </a:pPr>
            <a:r>
              <a:rPr lang="en-US" sz="2000" dirty="0" smtClean="0">
                <a:latin typeface="Lucida Console" pitchFamily="49" charset="0"/>
              </a:rPr>
              <a:t>/*Forgot to #include &lt;</a:t>
            </a:r>
            <a:r>
              <a:rPr lang="en-US" sz="2000" dirty="0" err="1" smtClean="0">
                <a:latin typeface="Lucida Console" pitchFamily="49" charset="0"/>
              </a:rPr>
              <a:t>malloc.h</a:t>
            </a:r>
            <a:r>
              <a:rPr lang="en-US" sz="2000" dirty="0" smtClean="0">
                <a:latin typeface="Lucida Console" pitchFamily="49" charset="0"/>
              </a:rPr>
              <a:t>&gt;, &lt;</a:t>
            </a:r>
            <a:r>
              <a:rPr lang="en-US" sz="2000" dirty="0" err="1" smtClean="0">
                <a:latin typeface="Lucida Console" pitchFamily="49" charset="0"/>
              </a:rPr>
              <a:t>stdlib.h</a:t>
            </a:r>
            <a:r>
              <a:rPr lang="en-US" sz="2000" dirty="0" smtClean="0">
                <a:latin typeface="Lucida Console" pitchFamily="49" charset="0"/>
              </a:rPr>
              <a:t>&gt;</a:t>
            </a:r>
          </a:p>
          <a:p>
            <a:pPr>
              <a:buNone/>
            </a:pPr>
            <a:r>
              <a:rPr lang="en-US" sz="2000" dirty="0" smtClean="0">
                <a:latin typeface="Lucida Console" pitchFamily="49" charset="0"/>
              </a:rPr>
              <a:t>  in a 64-bit application*/</a:t>
            </a:r>
          </a:p>
          <a:p>
            <a:pPr>
              <a:buNone/>
            </a:pPr>
            <a:r>
              <a:rPr lang="en-US" sz="2000" dirty="0" smtClean="0">
                <a:latin typeface="Lucida Console" pitchFamily="49" charset="0"/>
              </a:rPr>
              <a:t>void </a:t>
            </a:r>
            <a:r>
              <a:rPr lang="en-US" sz="2000" dirty="0" err="1" smtClean="0">
                <a:latin typeface="Lucida Console" pitchFamily="49" charset="0"/>
              </a:rPr>
              <a:t>illegalPointer</a:t>
            </a:r>
            <a:r>
              <a:rPr lang="en-US" sz="2000" dirty="0" smtClean="0">
                <a:latin typeface="Lucida Console" pitchFamily="49" charset="0"/>
              </a:rPr>
              <a:t>() {</a:t>
            </a:r>
          </a:p>
          <a:p>
            <a:pPr>
              <a:buNone/>
            </a:pPr>
            <a:r>
              <a:rPr lang="en-US" sz="2000" dirty="0" smtClean="0">
                <a:latin typeface="Lucida Console" pitchFamily="49" charset="0"/>
              </a:rPr>
              <a:t>	</a:t>
            </a:r>
            <a:r>
              <a:rPr lang="en-US" sz="2000" dirty="0" err="1" smtClean="0">
                <a:latin typeface="Lucida Console" pitchFamily="49" charset="0"/>
              </a:rPr>
              <a:t>int</a:t>
            </a:r>
            <a:r>
              <a:rPr lang="en-US" sz="2000" dirty="0" smtClean="0">
                <a:latin typeface="Lucida Console" pitchFamily="49" charset="0"/>
              </a:rPr>
              <a:t> *pi = (</a:t>
            </a:r>
            <a:r>
              <a:rPr lang="en-US" sz="2000" dirty="0" err="1" smtClean="0">
                <a:latin typeface="Lucida Console" pitchFamily="49" charset="0"/>
              </a:rPr>
              <a:t>int</a:t>
            </a:r>
            <a:r>
              <a:rPr lang="en-US" sz="2000" dirty="0" smtClean="0">
                <a:latin typeface="Lucida Console" pitchFamily="49" charset="0"/>
              </a:rPr>
              <a:t>*) </a:t>
            </a:r>
            <a:r>
              <a:rPr lang="en-US" sz="2000" dirty="0" err="1" smtClean="0">
                <a:latin typeface="Lucida Console" pitchFamily="49" charset="0"/>
              </a:rPr>
              <a:t>malloc</a:t>
            </a:r>
            <a:r>
              <a:rPr lang="en-US" sz="2000" dirty="0" smtClean="0">
                <a:latin typeface="Lucida Console" pitchFamily="49" charset="0"/>
              </a:rPr>
              <a:t>(4 * </a:t>
            </a:r>
            <a:r>
              <a:rPr lang="en-US" sz="2000" dirty="0" err="1" smtClean="0">
                <a:latin typeface="Lucida Console" pitchFamily="49" charset="0"/>
              </a:rPr>
              <a:t>sizeof</a:t>
            </a:r>
            <a:r>
              <a:rPr lang="en-US" sz="2000" dirty="0" smtClean="0">
                <a:latin typeface="Lucida Console" pitchFamily="49" charset="0"/>
              </a:rPr>
              <a:t>(</a:t>
            </a:r>
            <a:r>
              <a:rPr lang="en-US" sz="2000" dirty="0" err="1" smtClean="0">
                <a:latin typeface="Lucida Console" pitchFamily="49" charset="0"/>
              </a:rPr>
              <a:t>int</a:t>
            </a:r>
            <a:r>
              <a:rPr lang="en-US" sz="2000" dirty="0" smtClean="0">
                <a:latin typeface="Lucida Console" pitchFamily="49" charset="0"/>
              </a:rPr>
              <a:t>));</a:t>
            </a:r>
          </a:p>
          <a:p>
            <a:pPr>
              <a:buNone/>
            </a:pPr>
            <a:r>
              <a:rPr lang="en-US" sz="2000" dirty="0" smtClean="0">
                <a:latin typeface="Lucida Console" pitchFamily="49" charset="0"/>
              </a:rPr>
              <a:t>	pi[0] = 10; /* Expect IPW */</a:t>
            </a:r>
          </a:p>
          <a:p>
            <a:pPr>
              <a:buNone/>
            </a:pPr>
            <a:r>
              <a:rPr lang="en-US" sz="2000" dirty="0" smtClean="0">
                <a:latin typeface="Lucida Console" pitchFamily="49" charset="0"/>
              </a:rPr>
              <a:t>	</a:t>
            </a:r>
            <a:r>
              <a:rPr lang="en-US" sz="2000" dirty="0" err="1" smtClean="0">
                <a:latin typeface="Lucida Console" pitchFamily="49" charset="0"/>
              </a:rPr>
              <a:t>printf</a:t>
            </a:r>
            <a:r>
              <a:rPr lang="en-US" sz="2000" dirty="0" smtClean="0">
                <a:latin typeface="Lucida Console" pitchFamily="49" charset="0"/>
              </a:rPr>
              <a:t>("Array value = %d\n", pi[0]); /* Expect IPR */</a:t>
            </a:r>
          </a:p>
          <a:p>
            <a:pPr>
              <a:buNone/>
            </a:pPr>
            <a:r>
              <a:rPr lang="en-US" sz="2000" dirty="0" smtClean="0">
                <a:latin typeface="Lucida Console" pitchFamily="49" charset="0"/>
              </a:rPr>
              <a:t>}</a:t>
            </a:r>
          </a:p>
        </p:txBody>
      </p:sp>
      <p:sp>
        <p:nvSpPr>
          <p:cNvPr id="6" name="Line Callout 1 5"/>
          <p:cNvSpPr/>
          <p:nvPr/>
        </p:nvSpPr>
        <p:spPr>
          <a:xfrm>
            <a:off x="4038600" y="2590800"/>
            <a:ext cx="4648200" cy="685800"/>
          </a:xfrm>
          <a:prstGeom prst="borderCallout1">
            <a:avLst>
              <a:gd name="adj1" fmla="val 47321"/>
              <a:gd name="adj2" fmla="val 98"/>
              <a:gd name="adj3" fmla="val 279167"/>
              <a:gd name="adj4" fmla="val -10230"/>
            </a:avLst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Four bytes will be lopped off this value – resulting in an invalid pointer value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Using memory that you don’t own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898648" y="6356350"/>
            <a:ext cx="3578352" cy="501650"/>
          </a:xfrm>
        </p:spPr>
        <p:txBody>
          <a:bodyPr/>
          <a:lstStyle/>
          <a:p>
            <a:r>
              <a:rPr lang="en-US" dirty="0" smtClean="0"/>
              <a:t>CS 3090: Safety Critical Programming in 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4ACAA-C07D-4D49-BB34-FCC94B4B114A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z="2800" dirty="0" smtClean="0"/>
              <a:t>Free memory read/write</a:t>
            </a:r>
          </a:p>
          <a:p>
            <a:pPr lvl="1"/>
            <a:r>
              <a:rPr lang="en-US" sz="2400" dirty="0" smtClean="0"/>
              <a:t>Access of memory that has been freed earlier</a:t>
            </a:r>
          </a:p>
          <a:p>
            <a:pPr>
              <a:buNone/>
            </a:pPr>
            <a:r>
              <a:rPr lang="en-US" sz="2400" dirty="0" err="1" smtClean="0">
                <a:latin typeface="Lucida Console" pitchFamily="49" charset="0"/>
              </a:rPr>
              <a:t>int</a:t>
            </a:r>
            <a:r>
              <a:rPr lang="en-US" sz="2400" dirty="0" smtClean="0">
                <a:latin typeface="Lucida Console" pitchFamily="49" charset="0"/>
              </a:rPr>
              <a:t>* </a:t>
            </a:r>
            <a:r>
              <a:rPr lang="en-US" sz="2400" dirty="0" err="1" smtClean="0">
                <a:latin typeface="Lucida Console" pitchFamily="49" charset="0"/>
              </a:rPr>
              <a:t>init_array</a:t>
            </a:r>
            <a:r>
              <a:rPr lang="en-US" sz="2400" dirty="0" smtClean="0">
                <a:latin typeface="Lucida Console" pitchFamily="49" charset="0"/>
              </a:rPr>
              <a:t>(</a:t>
            </a:r>
            <a:r>
              <a:rPr lang="en-US" sz="2400" dirty="0" err="1" smtClean="0">
                <a:latin typeface="Lucida Console" pitchFamily="49" charset="0"/>
              </a:rPr>
              <a:t>int</a:t>
            </a:r>
            <a:r>
              <a:rPr lang="en-US" sz="2400" dirty="0" smtClean="0">
                <a:latin typeface="Lucida Console" pitchFamily="49" charset="0"/>
              </a:rPr>
              <a:t> *</a:t>
            </a:r>
            <a:r>
              <a:rPr lang="en-US" sz="2400" dirty="0" err="1" smtClean="0">
                <a:latin typeface="Lucida Console" pitchFamily="49" charset="0"/>
              </a:rPr>
              <a:t>ptr</a:t>
            </a:r>
            <a:r>
              <a:rPr lang="en-US" sz="2400" dirty="0" smtClean="0">
                <a:latin typeface="Lucida Console" pitchFamily="49" charset="0"/>
              </a:rPr>
              <a:t>, </a:t>
            </a:r>
            <a:r>
              <a:rPr lang="en-US" sz="2400" dirty="0" err="1" smtClean="0">
                <a:latin typeface="Lucida Console" pitchFamily="49" charset="0"/>
              </a:rPr>
              <a:t>int</a:t>
            </a:r>
            <a:r>
              <a:rPr lang="en-US" sz="2400" dirty="0" smtClean="0">
                <a:latin typeface="Lucida Console" pitchFamily="49" charset="0"/>
              </a:rPr>
              <a:t> </a:t>
            </a:r>
            <a:r>
              <a:rPr lang="en-US" sz="2400" dirty="0" err="1" smtClean="0">
                <a:latin typeface="Lucida Console" pitchFamily="49" charset="0"/>
              </a:rPr>
              <a:t>new_size</a:t>
            </a:r>
            <a:r>
              <a:rPr lang="en-US" sz="2400" dirty="0" smtClean="0">
                <a:latin typeface="Lucida Console" pitchFamily="49" charset="0"/>
              </a:rPr>
              <a:t>) {</a:t>
            </a:r>
          </a:p>
          <a:p>
            <a:pPr>
              <a:buNone/>
            </a:pPr>
            <a:r>
              <a:rPr lang="en-US" sz="2400" dirty="0" smtClean="0">
                <a:latin typeface="Lucida Console" pitchFamily="49" charset="0"/>
              </a:rPr>
              <a:t>	</a:t>
            </a:r>
            <a:r>
              <a:rPr lang="en-US" sz="2400" dirty="0" err="1" smtClean="0">
                <a:latin typeface="Lucida Console" pitchFamily="49" charset="0"/>
              </a:rPr>
              <a:t>ptr</a:t>
            </a:r>
            <a:r>
              <a:rPr lang="en-US" sz="2400" dirty="0" smtClean="0">
                <a:latin typeface="Lucida Console" pitchFamily="49" charset="0"/>
              </a:rPr>
              <a:t> = (</a:t>
            </a:r>
            <a:r>
              <a:rPr lang="en-US" sz="2400" dirty="0" err="1" smtClean="0">
                <a:latin typeface="Lucida Console" pitchFamily="49" charset="0"/>
              </a:rPr>
              <a:t>int</a:t>
            </a:r>
            <a:r>
              <a:rPr lang="en-US" sz="2400" dirty="0" smtClean="0">
                <a:latin typeface="Lucida Console" pitchFamily="49" charset="0"/>
              </a:rPr>
              <a:t>*) </a:t>
            </a:r>
            <a:r>
              <a:rPr lang="en-US" sz="2400" dirty="0" err="1" smtClean="0">
                <a:latin typeface="Lucida Console" pitchFamily="49" charset="0"/>
              </a:rPr>
              <a:t>realloc</a:t>
            </a:r>
            <a:r>
              <a:rPr lang="en-US" sz="2400" dirty="0" smtClean="0">
                <a:latin typeface="Lucida Console" pitchFamily="49" charset="0"/>
              </a:rPr>
              <a:t>(</a:t>
            </a:r>
            <a:r>
              <a:rPr lang="en-US" sz="2400" dirty="0" err="1" smtClean="0">
                <a:latin typeface="Lucida Console" pitchFamily="49" charset="0"/>
              </a:rPr>
              <a:t>ptr</a:t>
            </a:r>
            <a:r>
              <a:rPr lang="en-US" sz="2400" dirty="0" smtClean="0">
                <a:latin typeface="Lucida Console" pitchFamily="49" charset="0"/>
              </a:rPr>
              <a:t>, </a:t>
            </a:r>
            <a:r>
              <a:rPr lang="en-US" sz="2400" dirty="0" err="1" smtClean="0">
                <a:latin typeface="Lucida Console" pitchFamily="49" charset="0"/>
              </a:rPr>
              <a:t>new_size</a:t>
            </a:r>
            <a:r>
              <a:rPr lang="en-US" sz="2400" dirty="0" smtClean="0">
                <a:latin typeface="Lucida Console" pitchFamily="49" charset="0"/>
              </a:rPr>
              <a:t>*</a:t>
            </a:r>
            <a:r>
              <a:rPr lang="en-US" sz="2400" dirty="0" err="1" smtClean="0">
                <a:latin typeface="Lucida Console" pitchFamily="49" charset="0"/>
              </a:rPr>
              <a:t>sizeof</a:t>
            </a:r>
            <a:r>
              <a:rPr lang="en-US" sz="2400" dirty="0" smtClean="0">
                <a:latin typeface="Lucida Console" pitchFamily="49" charset="0"/>
              </a:rPr>
              <a:t>(</a:t>
            </a:r>
            <a:r>
              <a:rPr lang="en-US" sz="2400" dirty="0" err="1" smtClean="0">
                <a:latin typeface="Lucida Console" pitchFamily="49" charset="0"/>
              </a:rPr>
              <a:t>int</a:t>
            </a:r>
            <a:r>
              <a:rPr lang="en-US" sz="2400" dirty="0" smtClean="0">
                <a:latin typeface="Lucida Console" pitchFamily="49" charset="0"/>
              </a:rPr>
              <a:t>));</a:t>
            </a:r>
          </a:p>
          <a:p>
            <a:pPr>
              <a:buNone/>
            </a:pPr>
            <a:r>
              <a:rPr lang="en-US" sz="2400" dirty="0" smtClean="0">
                <a:latin typeface="Lucida Console" pitchFamily="49" charset="0"/>
              </a:rPr>
              <a:t>	</a:t>
            </a:r>
            <a:r>
              <a:rPr lang="en-US" sz="2400" dirty="0" err="1" smtClean="0">
                <a:latin typeface="Lucida Console" pitchFamily="49" charset="0"/>
              </a:rPr>
              <a:t>memset</a:t>
            </a:r>
            <a:r>
              <a:rPr lang="en-US" sz="2400" dirty="0" smtClean="0">
                <a:latin typeface="Lucida Console" pitchFamily="49" charset="0"/>
              </a:rPr>
              <a:t>(</a:t>
            </a:r>
            <a:r>
              <a:rPr lang="en-US" sz="2400" dirty="0" err="1" smtClean="0">
                <a:latin typeface="Lucida Console" pitchFamily="49" charset="0"/>
              </a:rPr>
              <a:t>ptr</a:t>
            </a:r>
            <a:r>
              <a:rPr lang="en-US" sz="2400" dirty="0" smtClean="0">
                <a:latin typeface="Lucida Console" pitchFamily="49" charset="0"/>
              </a:rPr>
              <a:t>, 0, </a:t>
            </a:r>
            <a:r>
              <a:rPr lang="en-US" sz="2400" dirty="0" err="1" smtClean="0">
                <a:latin typeface="Lucida Console" pitchFamily="49" charset="0"/>
              </a:rPr>
              <a:t>new_size</a:t>
            </a:r>
            <a:r>
              <a:rPr lang="en-US" sz="2400" dirty="0" smtClean="0">
                <a:latin typeface="Lucida Console" pitchFamily="49" charset="0"/>
              </a:rPr>
              <a:t>*</a:t>
            </a:r>
            <a:r>
              <a:rPr lang="en-US" sz="2400" dirty="0" err="1" smtClean="0">
                <a:latin typeface="Lucida Console" pitchFamily="49" charset="0"/>
              </a:rPr>
              <a:t>sizeof</a:t>
            </a:r>
            <a:r>
              <a:rPr lang="en-US" sz="2400" dirty="0" smtClean="0">
                <a:latin typeface="Lucida Console" pitchFamily="49" charset="0"/>
              </a:rPr>
              <a:t>(</a:t>
            </a:r>
            <a:r>
              <a:rPr lang="en-US" sz="2400" dirty="0" err="1" smtClean="0">
                <a:latin typeface="Lucida Console" pitchFamily="49" charset="0"/>
              </a:rPr>
              <a:t>int</a:t>
            </a:r>
            <a:r>
              <a:rPr lang="en-US" sz="2400" dirty="0" smtClean="0">
                <a:latin typeface="Lucida Console" pitchFamily="49" charset="0"/>
              </a:rPr>
              <a:t>));</a:t>
            </a:r>
          </a:p>
          <a:p>
            <a:pPr>
              <a:buNone/>
            </a:pPr>
            <a:r>
              <a:rPr lang="en-US" sz="2400" dirty="0" smtClean="0">
                <a:latin typeface="Lucida Console" pitchFamily="49" charset="0"/>
              </a:rPr>
              <a:t>	return </a:t>
            </a:r>
            <a:r>
              <a:rPr lang="en-US" sz="2400" dirty="0" err="1" smtClean="0">
                <a:latin typeface="Lucida Console" pitchFamily="49" charset="0"/>
              </a:rPr>
              <a:t>ptr</a:t>
            </a:r>
            <a:r>
              <a:rPr lang="en-US" sz="2400" dirty="0" smtClean="0">
                <a:latin typeface="Lucida Console" pitchFamily="49" charset="0"/>
              </a:rPr>
              <a:t>;</a:t>
            </a:r>
          </a:p>
          <a:p>
            <a:pPr>
              <a:buNone/>
            </a:pPr>
            <a:r>
              <a:rPr lang="en-US" sz="2400" dirty="0" smtClean="0">
                <a:latin typeface="Lucida Console" pitchFamily="49" charset="0"/>
              </a:rPr>
              <a:t>}</a:t>
            </a:r>
          </a:p>
          <a:p>
            <a:pPr>
              <a:buNone/>
            </a:pPr>
            <a:r>
              <a:rPr lang="en-US" sz="2400" dirty="0" err="1" smtClean="0">
                <a:latin typeface="Lucida Console" pitchFamily="49" charset="0"/>
              </a:rPr>
              <a:t>int</a:t>
            </a:r>
            <a:r>
              <a:rPr lang="en-US" sz="2400" dirty="0" smtClean="0">
                <a:latin typeface="Lucida Console" pitchFamily="49" charset="0"/>
              </a:rPr>
              <a:t>* </a:t>
            </a:r>
            <a:r>
              <a:rPr lang="en-US" sz="2400" dirty="0" err="1" smtClean="0">
                <a:latin typeface="Lucida Console" pitchFamily="49" charset="0"/>
              </a:rPr>
              <a:t>fill_fibonacci</a:t>
            </a:r>
            <a:r>
              <a:rPr lang="en-US" sz="2400" dirty="0" smtClean="0">
                <a:latin typeface="Lucida Console" pitchFamily="49" charset="0"/>
              </a:rPr>
              <a:t>(</a:t>
            </a:r>
            <a:r>
              <a:rPr lang="en-US" sz="2400" dirty="0" err="1" smtClean="0">
                <a:latin typeface="Lucida Console" pitchFamily="49" charset="0"/>
              </a:rPr>
              <a:t>int</a:t>
            </a:r>
            <a:r>
              <a:rPr lang="en-US" sz="2400" dirty="0" smtClean="0">
                <a:latin typeface="Lucida Console" pitchFamily="49" charset="0"/>
              </a:rPr>
              <a:t> *fib, </a:t>
            </a:r>
            <a:r>
              <a:rPr lang="en-US" sz="2400" dirty="0" err="1" smtClean="0">
                <a:latin typeface="Lucida Console" pitchFamily="49" charset="0"/>
              </a:rPr>
              <a:t>int</a:t>
            </a:r>
            <a:r>
              <a:rPr lang="en-US" sz="2400" dirty="0" smtClean="0">
                <a:latin typeface="Lucida Console" pitchFamily="49" charset="0"/>
              </a:rPr>
              <a:t> size) {</a:t>
            </a:r>
          </a:p>
          <a:p>
            <a:pPr>
              <a:buNone/>
            </a:pPr>
            <a:r>
              <a:rPr lang="en-US" sz="2400" dirty="0" smtClean="0">
                <a:latin typeface="Lucida Console" pitchFamily="49" charset="0"/>
              </a:rPr>
              <a:t>	</a:t>
            </a:r>
            <a:r>
              <a:rPr lang="en-US" sz="2400" dirty="0" err="1" smtClean="0">
                <a:latin typeface="Lucida Console" pitchFamily="49" charset="0"/>
              </a:rPr>
              <a:t>int</a:t>
            </a:r>
            <a:r>
              <a:rPr lang="en-US" sz="2400" dirty="0" smtClean="0">
                <a:latin typeface="Lucida Console" pitchFamily="49" charset="0"/>
              </a:rPr>
              <a:t> </a:t>
            </a:r>
            <a:r>
              <a:rPr lang="en-US" sz="2400" dirty="0" err="1" smtClean="0">
                <a:latin typeface="Lucida Console" pitchFamily="49" charset="0"/>
              </a:rPr>
              <a:t>i</a:t>
            </a:r>
            <a:r>
              <a:rPr lang="en-US" sz="2400" dirty="0" smtClean="0">
                <a:latin typeface="Lucida Console" pitchFamily="49" charset="0"/>
              </a:rPr>
              <a:t>;</a:t>
            </a:r>
          </a:p>
          <a:p>
            <a:pPr>
              <a:buNone/>
            </a:pPr>
            <a:r>
              <a:rPr lang="en-US" sz="2400" dirty="0" smtClean="0">
                <a:latin typeface="Lucida Console" pitchFamily="49" charset="0"/>
              </a:rPr>
              <a:t>	/* oops, forgot: fib = */ </a:t>
            </a:r>
            <a:r>
              <a:rPr lang="en-US" sz="2400" dirty="0" err="1" smtClean="0">
                <a:latin typeface="Lucida Console" pitchFamily="49" charset="0"/>
              </a:rPr>
              <a:t>init_array</a:t>
            </a:r>
            <a:r>
              <a:rPr lang="en-US" sz="2400" dirty="0" smtClean="0">
                <a:latin typeface="Lucida Console" pitchFamily="49" charset="0"/>
              </a:rPr>
              <a:t>(fib, size);</a:t>
            </a:r>
          </a:p>
          <a:p>
            <a:pPr>
              <a:buNone/>
            </a:pPr>
            <a:r>
              <a:rPr lang="en-US" sz="2400" dirty="0" smtClean="0">
                <a:latin typeface="Lucida Console" pitchFamily="49" charset="0"/>
              </a:rPr>
              <a:t>	/* fib[0] = 0; */ fib[1] = 1;</a:t>
            </a:r>
          </a:p>
          <a:p>
            <a:pPr>
              <a:buNone/>
            </a:pPr>
            <a:r>
              <a:rPr lang="en-US" sz="2400" dirty="0" smtClean="0">
                <a:latin typeface="Lucida Console" pitchFamily="49" charset="0"/>
              </a:rPr>
              <a:t>	for (</a:t>
            </a:r>
            <a:r>
              <a:rPr lang="en-US" sz="2400" dirty="0" err="1" smtClean="0">
                <a:latin typeface="Lucida Console" pitchFamily="49" charset="0"/>
              </a:rPr>
              <a:t>i</a:t>
            </a:r>
            <a:r>
              <a:rPr lang="en-US" sz="2400" dirty="0" smtClean="0">
                <a:latin typeface="Lucida Console" pitchFamily="49" charset="0"/>
              </a:rPr>
              <a:t>=2; </a:t>
            </a:r>
            <a:r>
              <a:rPr lang="en-US" sz="2400" dirty="0" err="1" smtClean="0">
                <a:latin typeface="Lucida Console" pitchFamily="49" charset="0"/>
              </a:rPr>
              <a:t>i</a:t>
            </a:r>
            <a:r>
              <a:rPr lang="en-US" sz="2400" dirty="0" smtClean="0">
                <a:latin typeface="Lucida Console" pitchFamily="49" charset="0"/>
              </a:rPr>
              <a:t>&lt;size; </a:t>
            </a:r>
            <a:r>
              <a:rPr lang="en-US" sz="2400" dirty="0" err="1" smtClean="0">
                <a:latin typeface="Lucida Console" pitchFamily="49" charset="0"/>
              </a:rPr>
              <a:t>i</a:t>
            </a:r>
            <a:r>
              <a:rPr lang="en-US" sz="2400" dirty="0" smtClean="0">
                <a:latin typeface="Lucida Console" pitchFamily="49" charset="0"/>
              </a:rPr>
              <a:t>++)</a:t>
            </a:r>
          </a:p>
          <a:p>
            <a:pPr>
              <a:buNone/>
            </a:pPr>
            <a:r>
              <a:rPr lang="en-US" sz="2400" dirty="0" smtClean="0">
                <a:latin typeface="Lucida Console" pitchFamily="49" charset="0"/>
              </a:rPr>
              <a:t>		fib[</a:t>
            </a:r>
            <a:r>
              <a:rPr lang="en-US" sz="2400" dirty="0" err="1" smtClean="0">
                <a:latin typeface="Lucida Console" pitchFamily="49" charset="0"/>
              </a:rPr>
              <a:t>i</a:t>
            </a:r>
            <a:r>
              <a:rPr lang="en-US" sz="2400" dirty="0" smtClean="0">
                <a:latin typeface="Lucida Console" pitchFamily="49" charset="0"/>
              </a:rPr>
              <a:t>] = fib[i-1] + fib[i-2];</a:t>
            </a:r>
          </a:p>
          <a:p>
            <a:pPr>
              <a:buNone/>
            </a:pPr>
            <a:r>
              <a:rPr lang="en-US" sz="2400" dirty="0" smtClean="0">
                <a:latin typeface="Lucida Console" pitchFamily="49" charset="0"/>
              </a:rPr>
              <a:t>	return fib;</a:t>
            </a:r>
          </a:p>
          <a:p>
            <a:pPr>
              <a:buNone/>
            </a:pPr>
            <a:r>
              <a:rPr lang="en-US" sz="2400" dirty="0" smtClean="0">
                <a:latin typeface="Lucida Console" pitchFamily="49" charset="0"/>
              </a:rPr>
              <a:t>}</a:t>
            </a:r>
            <a:endParaRPr lang="en-US" sz="2400" dirty="0">
              <a:latin typeface="Lucida Console" pitchFamily="49" charset="0"/>
            </a:endParaRPr>
          </a:p>
        </p:txBody>
      </p:sp>
      <p:sp>
        <p:nvSpPr>
          <p:cNvPr id="6" name="Line Callout 1 5"/>
          <p:cNvSpPr/>
          <p:nvPr/>
        </p:nvSpPr>
        <p:spPr>
          <a:xfrm>
            <a:off x="6172200" y="5029200"/>
            <a:ext cx="2590800" cy="609600"/>
          </a:xfrm>
          <a:prstGeom prst="borderCallout1">
            <a:avLst>
              <a:gd name="adj1" fmla="val 56250"/>
              <a:gd name="adj2" fmla="val 491"/>
              <a:gd name="adj3" fmla="val -91071"/>
              <a:gd name="adj4" fmla="val -23207"/>
            </a:avLst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What if array is moved to new location?</a:t>
            </a:r>
          </a:p>
        </p:txBody>
      </p:sp>
      <p:sp>
        <p:nvSpPr>
          <p:cNvPr id="7" name="Line Callout 1 6"/>
          <p:cNvSpPr/>
          <p:nvPr/>
        </p:nvSpPr>
        <p:spPr>
          <a:xfrm>
            <a:off x="3962400" y="2971800"/>
            <a:ext cx="4876800" cy="381000"/>
          </a:xfrm>
          <a:prstGeom prst="borderCallout1">
            <a:avLst>
              <a:gd name="adj1" fmla="val 53036"/>
              <a:gd name="adj2" fmla="val 372"/>
              <a:gd name="adj3" fmla="val -110357"/>
              <a:gd name="adj4" fmla="val -15566"/>
            </a:avLst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Remember: </a:t>
            </a:r>
            <a:r>
              <a:rPr lang="en-US" sz="2000" dirty="0" err="1" smtClean="0">
                <a:latin typeface="Lucida Console" pitchFamily="49" charset="0"/>
              </a:rPr>
              <a:t>realloc</a:t>
            </a:r>
            <a:r>
              <a:rPr lang="en-US" dirty="0" smtClean="0"/>
              <a:t> may move entire block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Using memory that you don’t own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898648" y="6356350"/>
            <a:ext cx="3578352" cy="501650"/>
          </a:xfrm>
        </p:spPr>
        <p:txBody>
          <a:bodyPr/>
          <a:lstStyle/>
          <a:p>
            <a:r>
              <a:rPr lang="en-US" dirty="0" smtClean="0"/>
              <a:t>CS 3090: Safety Critical Programming in 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4ACAA-C07D-4D49-BB34-FCC94B4B114A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z="3100" dirty="0" smtClean="0"/>
              <a:t>Beyond stack read/write</a:t>
            </a:r>
          </a:p>
          <a:p>
            <a:pPr>
              <a:buNone/>
            </a:pPr>
            <a:endParaRPr lang="en-US" dirty="0" smtClean="0">
              <a:latin typeface="Lucida Console" pitchFamily="49" charset="0"/>
            </a:endParaRPr>
          </a:p>
          <a:p>
            <a:pPr>
              <a:buNone/>
            </a:pPr>
            <a:r>
              <a:rPr lang="en-US" dirty="0" smtClean="0">
                <a:latin typeface="Lucida Console" pitchFamily="49" charset="0"/>
              </a:rPr>
              <a:t>char *append(const char* s1, const char *s2) {</a:t>
            </a:r>
          </a:p>
          <a:p>
            <a:pPr>
              <a:buNone/>
            </a:pPr>
            <a:r>
              <a:rPr lang="en-US" dirty="0" smtClean="0">
                <a:latin typeface="Lucida Console" pitchFamily="49" charset="0"/>
              </a:rPr>
              <a:t>	const </a:t>
            </a:r>
            <a:r>
              <a:rPr lang="en-US" dirty="0" err="1" smtClean="0">
                <a:latin typeface="Lucida Console" pitchFamily="49" charset="0"/>
              </a:rPr>
              <a:t>int</a:t>
            </a:r>
            <a:r>
              <a:rPr lang="en-US" dirty="0" smtClean="0">
                <a:latin typeface="Lucida Console" pitchFamily="49" charset="0"/>
              </a:rPr>
              <a:t> MAXSIZE = 128;</a:t>
            </a:r>
          </a:p>
          <a:p>
            <a:pPr>
              <a:buNone/>
            </a:pPr>
            <a:r>
              <a:rPr lang="en-US" dirty="0" smtClean="0">
                <a:latin typeface="Lucida Console" pitchFamily="49" charset="0"/>
              </a:rPr>
              <a:t>	char result[128];</a:t>
            </a:r>
          </a:p>
          <a:p>
            <a:pPr>
              <a:buNone/>
            </a:pPr>
            <a:r>
              <a:rPr lang="en-US" dirty="0" smtClean="0">
                <a:latin typeface="Lucida Console" pitchFamily="49" charset="0"/>
              </a:rPr>
              <a:t>	</a:t>
            </a:r>
            <a:r>
              <a:rPr lang="en-US" dirty="0" err="1" smtClean="0">
                <a:latin typeface="Lucida Console" pitchFamily="49" charset="0"/>
              </a:rPr>
              <a:t>int</a:t>
            </a:r>
            <a:r>
              <a:rPr lang="en-US" dirty="0" smtClean="0">
                <a:latin typeface="Lucida Console" pitchFamily="49" charset="0"/>
              </a:rPr>
              <a:t> </a:t>
            </a:r>
            <a:r>
              <a:rPr lang="en-US" dirty="0" err="1" smtClean="0">
                <a:latin typeface="Lucida Console" pitchFamily="49" charset="0"/>
              </a:rPr>
              <a:t>i</a:t>
            </a:r>
            <a:r>
              <a:rPr lang="en-US" dirty="0" smtClean="0">
                <a:latin typeface="Lucida Console" pitchFamily="49" charset="0"/>
              </a:rPr>
              <a:t>=0, j=0;</a:t>
            </a:r>
          </a:p>
          <a:p>
            <a:pPr>
              <a:buNone/>
            </a:pPr>
            <a:r>
              <a:rPr lang="en-US" dirty="0" smtClean="0">
                <a:latin typeface="Lucida Console" pitchFamily="49" charset="0"/>
              </a:rPr>
              <a:t>	for (j=0; </a:t>
            </a:r>
            <a:r>
              <a:rPr lang="en-US" dirty="0" err="1" smtClean="0">
                <a:latin typeface="Lucida Console" pitchFamily="49" charset="0"/>
              </a:rPr>
              <a:t>i</a:t>
            </a:r>
            <a:r>
              <a:rPr lang="en-US" dirty="0" smtClean="0">
                <a:latin typeface="Lucida Console" pitchFamily="49" charset="0"/>
              </a:rPr>
              <a:t>&lt;MAXSIZE-1 &amp;&amp; j&lt;</a:t>
            </a:r>
            <a:r>
              <a:rPr lang="en-US" dirty="0" err="1" smtClean="0">
                <a:latin typeface="Lucida Console" pitchFamily="49" charset="0"/>
              </a:rPr>
              <a:t>strlen</a:t>
            </a:r>
            <a:r>
              <a:rPr lang="en-US" dirty="0" smtClean="0">
                <a:latin typeface="Lucida Console" pitchFamily="49" charset="0"/>
              </a:rPr>
              <a:t>(s1); </a:t>
            </a:r>
            <a:r>
              <a:rPr lang="en-US" dirty="0" err="1" smtClean="0">
                <a:latin typeface="Lucida Console" pitchFamily="49" charset="0"/>
              </a:rPr>
              <a:t>i</a:t>
            </a:r>
            <a:r>
              <a:rPr lang="en-US" dirty="0" smtClean="0">
                <a:latin typeface="Lucida Console" pitchFamily="49" charset="0"/>
              </a:rPr>
              <a:t>++,j++) {</a:t>
            </a:r>
          </a:p>
          <a:p>
            <a:pPr>
              <a:buNone/>
            </a:pPr>
            <a:r>
              <a:rPr lang="en-US" dirty="0" smtClean="0">
                <a:latin typeface="Lucida Console" pitchFamily="49" charset="0"/>
              </a:rPr>
              <a:t>		result[</a:t>
            </a:r>
            <a:r>
              <a:rPr lang="en-US" dirty="0" err="1" smtClean="0">
                <a:latin typeface="Lucida Console" pitchFamily="49" charset="0"/>
              </a:rPr>
              <a:t>i</a:t>
            </a:r>
            <a:r>
              <a:rPr lang="en-US" dirty="0" smtClean="0">
                <a:latin typeface="Lucida Console" pitchFamily="49" charset="0"/>
              </a:rPr>
              <a:t>] = s1[j];</a:t>
            </a:r>
          </a:p>
          <a:p>
            <a:pPr>
              <a:buNone/>
            </a:pPr>
            <a:r>
              <a:rPr lang="en-US" dirty="0" smtClean="0">
                <a:latin typeface="Lucida Console" pitchFamily="49" charset="0"/>
              </a:rPr>
              <a:t>	}</a:t>
            </a:r>
          </a:p>
          <a:p>
            <a:pPr>
              <a:buNone/>
            </a:pPr>
            <a:r>
              <a:rPr lang="en-US" dirty="0" smtClean="0">
                <a:latin typeface="Lucida Console" pitchFamily="49" charset="0"/>
              </a:rPr>
              <a:t>	for (j=0; </a:t>
            </a:r>
            <a:r>
              <a:rPr lang="en-US" dirty="0" err="1" smtClean="0">
                <a:latin typeface="Lucida Console" pitchFamily="49" charset="0"/>
              </a:rPr>
              <a:t>i</a:t>
            </a:r>
            <a:r>
              <a:rPr lang="en-US" dirty="0" smtClean="0">
                <a:latin typeface="Lucida Console" pitchFamily="49" charset="0"/>
              </a:rPr>
              <a:t>&lt;MAXSIZE-1 &amp;&amp; j&lt;</a:t>
            </a:r>
            <a:r>
              <a:rPr lang="en-US" dirty="0" err="1" smtClean="0">
                <a:latin typeface="Lucida Console" pitchFamily="49" charset="0"/>
              </a:rPr>
              <a:t>strlen</a:t>
            </a:r>
            <a:r>
              <a:rPr lang="en-US" dirty="0" smtClean="0">
                <a:latin typeface="Lucida Console" pitchFamily="49" charset="0"/>
              </a:rPr>
              <a:t>(s2); </a:t>
            </a:r>
            <a:r>
              <a:rPr lang="en-US" dirty="0" err="1" smtClean="0">
                <a:latin typeface="Lucida Console" pitchFamily="49" charset="0"/>
              </a:rPr>
              <a:t>i</a:t>
            </a:r>
            <a:r>
              <a:rPr lang="en-US" dirty="0" smtClean="0">
                <a:latin typeface="Lucida Console" pitchFamily="49" charset="0"/>
              </a:rPr>
              <a:t>++,j++) {</a:t>
            </a:r>
          </a:p>
          <a:p>
            <a:pPr>
              <a:buNone/>
            </a:pPr>
            <a:r>
              <a:rPr lang="en-US" dirty="0" smtClean="0">
                <a:latin typeface="Lucida Console" pitchFamily="49" charset="0"/>
              </a:rPr>
              <a:t>		result[</a:t>
            </a:r>
            <a:r>
              <a:rPr lang="en-US" dirty="0" err="1" smtClean="0">
                <a:latin typeface="Lucida Console" pitchFamily="49" charset="0"/>
              </a:rPr>
              <a:t>i</a:t>
            </a:r>
            <a:r>
              <a:rPr lang="en-US" dirty="0" smtClean="0">
                <a:latin typeface="Lucida Console" pitchFamily="49" charset="0"/>
              </a:rPr>
              <a:t>] = s2[j];</a:t>
            </a:r>
          </a:p>
          <a:p>
            <a:pPr>
              <a:buNone/>
            </a:pPr>
            <a:r>
              <a:rPr lang="en-US" dirty="0" smtClean="0">
                <a:latin typeface="Lucida Console" pitchFamily="49" charset="0"/>
              </a:rPr>
              <a:t>	}</a:t>
            </a:r>
          </a:p>
          <a:p>
            <a:pPr>
              <a:buNone/>
            </a:pPr>
            <a:r>
              <a:rPr lang="en-US" dirty="0" smtClean="0">
                <a:latin typeface="Lucida Console" pitchFamily="49" charset="0"/>
              </a:rPr>
              <a:t>	result[++</a:t>
            </a:r>
            <a:r>
              <a:rPr lang="en-US" dirty="0" err="1" smtClean="0">
                <a:latin typeface="Lucida Console" pitchFamily="49" charset="0"/>
              </a:rPr>
              <a:t>i</a:t>
            </a:r>
            <a:r>
              <a:rPr lang="en-US" dirty="0" smtClean="0">
                <a:latin typeface="Lucida Console" pitchFamily="49" charset="0"/>
              </a:rPr>
              <a:t>] = '\0';</a:t>
            </a:r>
          </a:p>
          <a:p>
            <a:pPr>
              <a:buNone/>
            </a:pPr>
            <a:r>
              <a:rPr lang="en-US" dirty="0" smtClean="0">
                <a:latin typeface="Lucida Console" pitchFamily="49" charset="0"/>
              </a:rPr>
              <a:t>	return result;</a:t>
            </a:r>
          </a:p>
          <a:p>
            <a:pPr>
              <a:buNone/>
            </a:pPr>
            <a:r>
              <a:rPr lang="en-US" dirty="0" smtClean="0">
                <a:latin typeface="Lucida Console" pitchFamily="49" charset="0"/>
              </a:rPr>
              <a:t>}</a:t>
            </a:r>
          </a:p>
        </p:txBody>
      </p:sp>
      <p:sp>
        <p:nvSpPr>
          <p:cNvPr id="6" name="Line Callout 1 5"/>
          <p:cNvSpPr/>
          <p:nvPr/>
        </p:nvSpPr>
        <p:spPr>
          <a:xfrm>
            <a:off x="4267200" y="5334000"/>
            <a:ext cx="3733800" cy="914400"/>
          </a:xfrm>
          <a:prstGeom prst="borderCallout1">
            <a:avLst>
              <a:gd name="adj1" fmla="val 52083"/>
              <a:gd name="adj2" fmla="val 310"/>
              <a:gd name="adj3" fmla="val 30147"/>
              <a:gd name="adj4" fmla="val -36892"/>
            </a:avLst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Function returns pointer to stack memory – won’t be valid after function returns</a:t>
            </a:r>
          </a:p>
        </p:txBody>
      </p:sp>
      <p:sp>
        <p:nvSpPr>
          <p:cNvPr id="7" name="Line Callout 1 6"/>
          <p:cNvSpPr/>
          <p:nvPr/>
        </p:nvSpPr>
        <p:spPr>
          <a:xfrm>
            <a:off x="4572000" y="2438400"/>
            <a:ext cx="3733800" cy="609600"/>
          </a:xfrm>
          <a:prstGeom prst="borderCallout1">
            <a:avLst>
              <a:gd name="adj1" fmla="val 52083"/>
              <a:gd name="adj2" fmla="val 310"/>
              <a:gd name="adj3" fmla="val 38970"/>
              <a:gd name="adj4" fmla="val -34011"/>
            </a:avLst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atin typeface="Lucida Console" pitchFamily="49" charset="0"/>
              </a:rPr>
              <a:t>result</a:t>
            </a:r>
            <a:r>
              <a:rPr lang="en-US" dirty="0" smtClean="0"/>
              <a:t> is a local array name –</a:t>
            </a:r>
          </a:p>
          <a:p>
            <a:pPr algn="ctr"/>
            <a:r>
              <a:rPr lang="en-US" dirty="0" smtClean="0"/>
              <a:t>stack memory allocated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Using memory that you haven’t allocated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898648" y="6356350"/>
            <a:ext cx="3578352" cy="501650"/>
          </a:xfrm>
        </p:spPr>
        <p:txBody>
          <a:bodyPr/>
          <a:lstStyle/>
          <a:p>
            <a:r>
              <a:rPr lang="en-US" dirty="0" smtClean="0"/>
              <a:t>CS 3090: Safety Critical Programming in 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4ACAA-C07D-4D49-BB34-FCC94B4B114A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2400" dirty="0" smtClean="0"/>
              <a:t>Array bound read/write</a:t>
            </a:r>
          </a:p>
          <a:p>
            <a:pPr>
              <a:buNone/>
            </a:pPr>
            <a:endParaRPr lang="en-US" sz="2000" dirty="0" smtClean="0">
              <a:latin typeface="Lucida Console" pitchFamily="49" charset="0"/>
            </a:endParaRPr>
          </a:p>
          <a:p>
            <a:pPr>
              <a:buNone/>
            </a:pPr>
            <a:r>
              <a:rPr lang="en-US" sz="2000" dirty="0" smtClean="0">
                <a:latin typeface="Lucida Console" pitchFamily="49" charset="0"/>
              </a:rPr>
              <a:t>void </a:t>
            </a:r>
            <a:r>
              <a:rPr lang="en-US" sz="2000" dirty="0" err="1" smtClean="0">
                <a:latin typeface="Lucida Console" pitchFamily="49" charset="0"/>
              </a:rPr>
              <a:t>genABRandABW</a:t>
            </a:r>
            <a:r>
              <a:rPr lang="en-US" sz="2000" dirty="0" smtClean="0">
                <a:latin typeface="Lucida Console" pitchFamily="49" charset="0"/>
              </a:rPr>
              <a:t>() {</a:t>
            </a:r>
          </a:p>
          <a:p>
            <a:pPr>
              <a:buNone/>
            </a:pPr>
            <a:r>
              <a:rPr lang="en-US" sz="2000" dirty="0" smtClean="0">
                <a:latin typeface="Lucida Console" pitchFamily="49" charset="0"/>
              </a:rPr>
              <a:t>	const char *name = “Safety Critical";</a:t>
            </a:r>
          </a:p>
          <a:p>
            <a:pPr>
              <a:buNone/>
            </a:pPr>
            <a:r>
              <a:rPr lang="en-US" sz="2000" dirty="0" smtClean="0">
                <a:latin typeface="Lucida Console" pitchFamily="49" charset="0"/>
              </a:rPr>
              <a:t>	char *</a:t>
            </a:r>
            <a:r>
              <a:rPr lang="en-US" sz="2000" dirty="0" err="1" smtClean="0">
                <a:latin typeface="Lucida Console" pitchFamily="49" charset="0"/>
              </a:rPr>
              <a:t>str</a:t>
            </a:r>
            <a:r>
              <a:rPr lang="en-US" sz="2000" dirty="0" smtClean="0">
                <a:latin typeface="Lucida Console" pitchFamily="49" charset="0"/>
              </a:rPr>
              <a:t> = (char*) </a:t>
            </a:r>
            <a:r>
              <a:rPr lang="en-US" sz="2000" dirty="0" err="1" smtClean="0">
                <a:latin typeface="Lucida Console" pitchFamily="49" charset="0"/>
              </a:rPr>
              <a:t>malloc</a:t>
            </a:r>
            <a:r>
              <a:rPr lang="en-US" sz="2000" dirty="0" smtClean="0">
                <a:latin typeface="Lucida Console" pitchFamily="49" charset="0"/>
              </a:rPr>
              <a:t>(10);</a:t>
            </a:r>
          </a:p>
          <a:p>
            <a:pPr>
              <a:buNone/>
            </a:pPr>
            <a:r>
              <a:rPr lang="en-US" sz="2000" dirty="0" smtClean="0">
                <a:latin typeface="Lucida Console" pitchFamily="49" charset="0"/>
              </a:rPr>
              <a:t>	</a:t>
            </a:r>
            <a:r>
              <a:rPr lang="en-US" sz="2000" dirty="0" err="1" smtClean="0">
                <a:latin typeface="Lucida Console" pitchFamily="49" charset="0"/>
              </a:rPr>
              <a:t>strncpy</a:t>
            </a:r>
            <a:r>
              <a:rPr lang="en-US" sz="2000" dirty="0" smtClean="0">
                <a:latin typeface="Lucida Console" pitchFamily="49" charset="0"/>
              </a:rPr>
              <a:t>(</a:t>
            </a:r>
            <a:r>
              <a:rPr lang="en-US" sz="2000" dirty="0" err="1" smtClean="0">
                <a:latin typeface="Lucida Console" pitchFamily="49" charset="0"/>
              </a:rPr>
              <a:t>str</a:t>
            </a:r>
            <a:r>
              <a:rPr lang="en-US" sz="2000" dirty="0" smtClean="0">
                <a:latin typeface="Lucida Console" pitchFamily="49" charset="0"/>
              </a:rPr>
              <a:t>, name, 10);</a:t>
            </a:r>
          </a:p>
          <a:p>
            <a:pPr>
              <a:buNone/>
            </a:pPr>
            <a:r>
              <a:rPr lang="en-US" sz="2000" dirty="0" smtClean="0">
                <a:latin typeface="Lucida Console" pitchFamily="49" charset="0"/>
              </a:rPr>
              <a:t>	</a:t>
            </a:r>
            <a:r>
              <a:rPr lang="en-US" sz="2000" dirty="0" err="1" smtClean="0">
                <a:latin typeface="Lucida Console" pitchFamily="49" charset="0"/>
              </a:rPr>
              <a:t>str</a:t>
            </a:r>
            <a:r>
              <a:rPr lang="en-US" sz="2000" dirty="0" smtClean="0">
                <a:latin typeface="Lucida Console" pitchFamily="49" charset="0"/>
              </a:rPr>
              <a:t>[11] = '\0'; /* Expect ABW */</a:t>
            </a:r>
          </a:p>
          <a:p>
            <a:pPr>
              <a:buNone/>
            </a:pPr>
            <a:r>
              <a:rPr lang="en-US" sz="2000" dirty="0" smtClean="0">
                <a:latin typeface="Lucida Console" pitchFamily="49" charset="0"/>
              </a:rPr>
              <a:t>	</a:t>
            </a:r>
            <a:r>
              <a:rPr lang="en-US" sz="2000" dirty="0" err="1" smtClean="0">
                <a:latin typeface="Lucida Console" pitchFamily="49" charset="0"/>
              </a:rPr>
              <a:t>printf</a:t>
            </a:r>
            <a:r>
              <a:rPr lang="en-US" sz="2000" dirty="0" smtClean="0">
                <a:latin typeface="Lucida Console" pitchFamily="49" charset="0"/>
              </a:rPr>
              <a:t>("%s\n", </a:t>
            </a:r>
            <a:r>
              <a:rPr lang="en-US" sz="2000" dirty="0" err="1" smtClean="0">
                <a:latin typeface="Lucida Console" pitchFamily="49" charset="0"/>
              </a:rPr>
              <a:t>str</a:t>
            </a:r>
            <a:r>
              <a:rPr lang="en-US" sz="2000" dirty="0" smtClean="0">
                <a:latin typeface="Lucida Console" pitchFamily="49" charset="0"/>
              </a:rPr>
              <a:t>); /* Expect ABR */</a:t>
            </a:r>
          </a:p>
          <a:p>
            <a:pPr>
              <a:buNone/>
            </a:pPr>
            <a:r>
              <a:rPr lang="en-US" sz="2000" dirty="0" smtClean="0">
                <a:latin typeface="Lucida Console" pitchFamily="49" charset="0"/>
              </a:rPr>
              <a:t>}</a:t>
            </a:r>
            <a:endParaRPr lang="en-US" sz="2000" dirty="0">
              <a:latin typeface="Lucida Console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Faulty heap management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898648" y="6356350"/>
            <a:ext cx="3578352" cy="501650"/>
          </a:xfrm>
        </p:spPr>
        <p:txBody>
          <a:bodyPr/>
          <a:lstStyle/>
          <a:p>
            <a:r>
              <a:rPr lang="en-US" dirty="0" smtClean="0"/>
              <a:t>CS 3090: Safety Critical Programming in 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4ACAA-C07D-4D49-BB34-FCC94B4B114A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Memory leak</a:t>
            </a:r>
          </a:p>
          <a:p>
            <a:pPr>
              <a:buNone/>
            </a:pPr>
            <a:endParaRPr lang="en-US" sz="2200" dirty="0" smtClean="0">
              <a:latin typeface="Lucida Console" pitchFamily="49" charset="0"/>
            </a:endParaRPr>
          </a:p>
          <a:p>
            <a:pPr>
              <a:buNone/>
            </a:pPr>
            <a:r>
              <a:rPr lang="en-US" sz="2200" dirty="0" err="1" smtClean="0">
                <a:latin typeface="Lucida Console" pitchFamily="49" charset="0"/>
              </a:rPr>
              <a:t>int</a:t>
            </a:r>
            <a:r>
              <a:rPr lang="en-US" sz="2200" dirty="0" smtClean="0">
                <a:latin typeface="Lucida Console" pitchFamily="49" charset="0"/>
              </a:rPr>
              <a:t> *pi;</a:t>
            </a:r>
          </a:p>
          <a:p>
            <a:pPr>
              <a:buNone/>
            </a:pPr>
            <a:r>
              <a:rPr lang="en-US" sz="2200" dirty="0" smtClean="0">
                <a:latin typeface="Lucida Console" pitchFamily="49" charset="0"/>
              </a:rPr>
              <a:t>void </a:t>
            </a:r>
            <a:r>
              <a:rPr lang="en-US" sz="2200" dirty="0" err="1" smtClean="0">
                <a:latin typeface="Lucida Console" pitchFamily="49" charset="0"/>
              </a:rPr>
              <a:t>foo</a:t>
            </a:r>
            <a:r>
              <a:rPr lang="en-US" sz="2200" dirty="0" smtClean="0">
                <a:latin typeface="Lucida Console" pitchFamily="49" charset="0"/>
              </a:rPr>
              <a:t>() {</a:t>
            </a:r>
          </a:p>
          <a:p>
            <a:pPr>
              <a:buNone/>
            </a:pPr>
            <a:r>
              <a:rPr lang="en-US" sz="2200" dirty="0" smtClean="0">
                <a:latin typeface="Lucida Console" pitchFamily="49" charset="0"/>
              </a:rPr>
              <a:t>	pi = (</a:t>
            </a:r>
            <a:r>
              <a:rPr lang="en-US" sz="2200" dirty="0" err="1" smtClean="0">
                <a:latin typeface="Lucida Console" pitchFamily="49" charset="0"/>
              </a:rPr>
              <a:t>int</a:t>
            </a:r>
            <a:r>
              <a:rPr lang="en-US" sz="2200" dirty="0" smtClean="0">
                <a:latin typeface="Lucida Console" pitchFamily="49" charset="0"/>
              </a:rPr>
              <a:t>*) </a:t>
            </a:r>
            <a:r>
              <a:rPr lang="en-US" sz="2200" dirty="0" err="1" smtClean="0">
                <a:latin typeface="Lucida Console" pitchFamily="49" charset="0"/>
              </a:rPr>
              <a:t>malloc</a:t>
            </a:r>
            <a:r>
              <a:rPr lang="en-US" sz="2200" dirty="0" smtClean="0">
                <a:latin typeface="Lucida Console" pitchFamily="49" charset="0"/>
              </a:rPr>
              <a:t>(8*</a:t>
            </a:r>
            <a:r>
              <a:rPr lang="en-US" sz="2200" dirty="0" err="1" smtClean="0">
                <a:latin typeface="Lucida Console" pitchFamily="49" charset="0"/>
              </a:rPr>
              <a:t>sizeof</a:t>
            </a:r>
            <a:r>
              <a:rPr lang="en-US" sz="2200" dirty="0" smtClean="0">
                <a:latin typeface="Lucida Console" pitchFamily="49" charset="0"/>
              </a:rPr>
              <a:t>(</a:t>
            </a:r>
            <a:r>
              <a:rPr lang="en-US" sz="2200" dirty="0" err="1" smtClean="0">
                <a:latin typeface="Lucida Console" pitchFamily="49" charset="0"/>
              </a:rPr>
              <a:t>int</a:t>
            </a:r>
            <a:r>
              <a:rPr lang="en-US" sz="2200" dirty="0" smtClean="0">
                <a:latin typeface="Lucida Console" pitchFamily="49" charset="0"/>
              </a:rPr>
              <a:t>));</a:t>
            </a:r>
          </a:p>
          <a:p>
            <a:pPr>
              <a:buNone/>
            </a:pPr>
            <a:r>
              <a:rPr lang="en-US" sz="2200" dirty="0" smtClean="0">
                <a:latin typeface="Lucida Console" pitchFamily="49" charset="0"/>
              </a:rPr>
              <a:t>	/* Allocate memory for pi */</a:t>
            </a:r>
          </a:p>
          <a:p>
            <a:pPr>
              <a:buNone/>
            </a:pPr>
            <a:r>
              <a:rPr lang="en-US" sz="2200" dirty="0" smtClean="0">
                <a:latin typeface="Lucida Console" pitchFamily="49" charset="0"/>
              </a:rPr>
              <a:t>	/* Oops, leaked the old memory pointed to by pi */</a:t>
            </a:r>
          </a:p>
          <a:p>
            <a:pPr>
              <a:buNone/>
            </a:pPr>
            <a:r>
              <a:rPr lang="en-US" sz="2200" dirty="0" smtClean="0">
                <a:latin typeface="Lucida Console" pitchFamily="49" charset="0"/>
              </a:rPr>
              <a:t>	…</a:t>
            </a:r>
          </a:p>
          <a:p>
            <a:pPr>
              <a:buNone/>
            </a:pPr>
            <a:r>
              <a:rPr lang="en-US" sz="2200" dirty="0" smtClean="0">
                <a:latin typeface="Lucida Console" pitchFamily="49" charset="0"/>
              </a:rPr>
              <a:t>	free(pi); /* </a:t>
            </a:r>
            <a:r>
              <a:rPr lang="en-US" sz="2200" dirty="0" err="1" smtClean="0">
                <a:latin typeface="Lucida Console" pitchFamily="49" charset="0"/>
              </a:rPr>
              <a:t>foo</a:t>
            </a:r>
            <a:r>
              <a:rPr lang="en-US" sz="2200" dirty="0" smtClean="0">
                <a:latin typeface="Lucida Console" pitchFamily="49" charset="0"/>
              </a:rPr>
              <a:t>() is done with pi, so free it */</a:t>
            </a:r>
          </a:p>
          <a:p>
            <a:pPr>
              <a:buNone/>
            </a:pPr>
            <a:r>
              <a:rPr lang="en-US" sz="2200" dirty="0" smtClean="0">
                <a:latin typeface="Lucida Console" pitchFamily="49" charset="0"/>
              </a:rPr>
              <a:t>}</a:t>
            </a:r>
          </a:p>
          <a:p>
            <a:pPr>
              <a:buNone/>
            </a:pPr>
            <a:r>
              <a:rPr lang="en-US" sz="2200" dirty="0" smtClean="0">
                <a:latin typeface="Lucida Console" pitchFamily="49" charset="0"/>
              </a:rPr>
              <a:t>void main() {</a:t>
            </a:r>
          </a:p>
          <a:p>
            <a:pPr>
              <a:buNone/>
            </a:pPr>
            <a:r>
              <a:rPr lang="en-US" sz="2200" dirty="0" smtClean="0">
                <a:latin typeface="Lucida Console" pitchFamily="49" charset="0"/>
              </a:rPr>
              <a:t>	pi = (</a:t>
            </a:r>
            <a:r>
              <a:rPr lang="en-US" sz="2200" dirty="0" err="1" smtClean="0">
                <a:latin typeface="Lucida Console" pitchFamily="49" charset="0"/>
              </a:rPr>
              <a:t>int</a:t>
            </a:r>
            <a:r>
              <a:rPr lang="en-US" sz="2200" dirty="0" smtClean="0">
                <a:latin typeface="Lucida Console" pitchFamily="49" charset="0"/>
              </a:rPr>
              <a:t>*) </a:t>
            </a:r>
            <a:r>
              <a:rPr lang="en-US" sz="2200" dirty="0" err="1" smtClean="0">
                <a:latin typeface="Lucida Console" pitchFamily="49" charset="0"/>
              </a:rPr>
              <a:t>malloc</a:t>
            </a:r>
            <a:r>
              <a:rPr lang="en-US" sz="2200" dirty="0" smtClean="0">
                <a:latin typeface="Lucida Console" pitchFamily="49" charset="0"/>
              </a:rPr>
              <a:t>(4*</a:t>
            </a:r>
            <a:r>
              <a:rPr lang="en-US" sz="2200" dirty="0" err="1" smtClean="0">
                <a:latin typeface="Lucida Console" pitchFamily="49" charset="0"/>
              </a:rPr>
              <a:t>sizeof</a:t>
            </a:r>
            <a:r>
              <a:rPr lang="en-US" sz="2200" dirty="0" smtClean="0">
                <a:latin typeface="Lucida Console" pitchFamily="49" charset="0"/>
              </a:rPr>
              <a:t>(</a:t>
            </a:r>
            <a:r>
              <a:rPr lang="en-US" sz="2200" dirty="0" err="1" smtClean="0">
                <a:latin typeface="Lucida Console" pitchFamily="49" charset="0"/>
              </a:rPr>
              <a:t>int</a:t>
            </a:r>
            <a:r>
              <a:rPr lang="en-US" sz="2200" dirty="0" smtClean="0">
                <a:latin typeface="Lucida Console" pitchFamily="49" charset="0"/>
              </a:rPr>
              <a:t>));</a:t>
            </a:r>
          </a:p>
          <a:p>
            <a:pPr>
              <a:buNone/>
            </a:pPr>
            <a:r>
              <a:rPr lang="en-US" sz="2200" dirty="0" smtClean="0">
                <a:latin typeface="Lucida Console" pitchFamily="49" charset="0"/>
              </a:rPr>
              <a:t>	/* Expect MLK: </a:t>
            </a:r>
            <a:r>
              <a:rPr lang="en-US" sz="2200" dirty="0" err="1" smtClean="0">
                <a:latin typeface="Lucida Console" pitchFamily="49" charset="0"/>
              </a:rPr>
              <a:t>foo</a:t>
            </a:r>
            <a:r>
              <a:rPr lang="en-US" sz="2200" dirty="0" smtClean="0">
                <a:latin typeface="Lucida Console" pitchFamily="49" charset="0"/>
              </a:rPr>
              <a:t> leaks it */</a:t>
            </a:r>
          </a:p>
          <a:p>
            <a:pPr>
              <a:buNone/>
            </a:pPr>
            <a:r>
              <a:rPr lang="en-US" sz="2200" dirty="0" smtClean="0">
                <a:latin typeface="Lucida Console" pitchFamily="49" charset="0"/>
              </a:rPr>
              <a:t>	</a:t>
            </a:r>
            <a:r>
              <a:rPr lang="en-US" sz="2200" dirty="0" err="1" smtClean="0">
                <a:latin typeface="Lucida Console" pitchFamily="49" charset="0"/>
              </a:rPr>
              <a:t>foo</a:t>
            </a:r>
            <a:r>
              <a:rPr lang="en-US" sz="2200" dirty="0" smtClean="0">
                <a:latin typeface="Lucida Console" pitchFamily="49" charset="0"/>
              </a:rPr>
              <a:t>();</a:t>
            </a:r>
          </a:p>
          <a:p>
            <a:pPr>
              <a:buNone/>
            </a:pPr>
            <a:r>
              <a:rPr lang="en-US" sz="2200" dirty="0" smtClean="0">
                <a:latin typeface="Lucida Console" pitchFamily="49" charset="0"/>
              </a:rPr>
              <a:t>}</a:t>
            </a:r>
            <a:endParaRPr lang="en-US" sz="2200" dirty="0">
              <a:latin typeface="Lucida Console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Faulty heap management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898648" y="6356350"/>
            <a:ext cx="3578352" cy="501650"/>
          </a:xfrm>
        </p:spPr>
        <p:txBody>
          <a:bodyPr/>
          <a:lstStyle/>
          <a:p>
            <a:r>
              <a:rPr lang="en-US" dirty="0" smtClean="0"/>
              <a:t>CS 3090: Safety Critical Programming in 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4ACAA-C07D-4D49-BB34-FCC94B4B114A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2400" dirty="0" smtClean="0"/>
              <a:t>Potential memory leak</a:t>
            </a:r>
          </a:p>
          <a:p>
            <a:pPr lvl="1"/>
            <a:r>
              <a:rPr lang="en-US" sz="2000" dirty="0" smtClean="0"/>
              <a:t>no pointer to the beginning of a block</a:t>
            </a:r>
          </a:p>
          <a:p>
            <a:pPr lvl="1"/>
            <a:r>
              <a:rPr lang="en-US" sz="2000" dirty="0" smtClean="0"/>
              <a:t>not necessarily critical – block beginning may still be reachable via pointer arithmetic</a:t>
            </a:r>
          </a:p>
          <a:p>
            <a:pPr>
              <a:buNone/>
            </a:pPr>
            <a:endParaRPr lang="en-US" sz="2000" dirty="0" smtClean="0">
              <a:latin typeface="Lucida Console" pitchFamily="49" charset="0"/>
            </a:endParaRPr>
          </a:p>
          <a:p>
            <a:pPr>
              <a:buNone/>
            </a:pPr>
            <a:r>
              <a:rPr lang="en-US" sz="2000" dirty="0" err="1" smtClean="0">
                <a:latin typeface="Lucida Console" pitchFamily="49" charset="0"/>
              </a:rPr>
              <a:t>int</a:t>
            </a:r>
            <a:r>
              <a:rPr lang="en-US" sz="2000" dirty="0" smtClean="0">
                <a:latin typeface="Lucida Console" pitchFamily="49" charset="0"/>
              </a:rPr>
              <a:t> *</a:t>
            </a:r>
            <a:r>
              <a:rPr lang="en-US" sz="2000" dirty="0" err="1" smtClean="0">
                <a:latin typeface="Lucida Console" pitchFamily="49" charset="0"/>
              </a:rPr>
              <a:t>plk</a:t>
            </a:r>
            <a:r>
              <a:rPr lang="en-US" sz="2000" dirty="0" smtClean="0">
                <a:latin typeface="Lucida Console" pitchFamily="49" charset="0"/>
              </a:rPr>
              <a:t> = NULL;</a:t>
            </a:r>
          </a:p>
          <a:p>
            <a:pPr>
              <a:buNone/>
            </a:pPr>
            <a:r>
              <a:rPr lang="en-US" sz="2000" dirty="0" smtClean="0">
                <a:latin typeface="Lucida Console" pitchFamily="49" charset="0"/>
              </a:rPr>
              <a:t>void </a:t>
            </a:r>
            <a:r>
              <a:rPr lang="en-US" sz="2000" dirty="0" err="1" smtClean="0">
                <a:latin typeface="Lucida Console" pitchFamily="49" charset="0"/>
              </a:rPr>
              <a:t>genPLK</a:t>
            </a:r>
            <a:r>
              <a:rPr lang="en-US" sz="2000" dirty="0" smtClean="0">
                <a:latin typeface="Lucida Console" pitchFamily="49" charset="0"/>
              </a:rPr>
              <a:t>() {</a:t>
            </a:r>
          </a:p>
          <a:p>
            <a:pPr>
              <a:buNone/>
            </a:pPr>
            <a:r>
              <a:rPr lang="en-US" sz="2000" dirty="0" smtClean="0">
                <a:latin typeface="Lucida Console" pitchFamily="49" charset="0"/>
              </a:rPr>
              <a:t>	</a:t>
            </a:r>
            <a:r>
              <a:rPr lang="en-US" sz="2000" dirty="0" err="1" smtClean="0">
                <a:latin typeface="Lucida Console" pitchFamily="49" charset="0"/>
              </a:rPr>
              <a:t>plk</a:t>
            </a:r>
            <a:r>
              <a:rPr lang="en-US" sz="2000" dirty="0" smtClean="0">
                <a:latin typeface="Lucida Console" pitchFamily="49" charset="0"/>
              </a:rPr>
              <a:t> = (</a:t>
            </a:r>
            <a:r>
              <a:rPr lang="en-US" sz="2000" dirty="0" err="1" smtClean="0">
                <a:latin typeface="Lucida Console" pitchFamily="49" charset="0"/>
              </a:rPr>
              <a:t>int</a:t>
            </a:r>
            <a:r>
              <a:rPr lang="en-US" sz="2000" dirty="0" smtClean="0">
                <a:latin typeface="Lucida Console" pitchFamily="49" charset="0"/>
              </a:rPr>
              <a:t> *) </a:t>
            </a:r>
            <a:r>
              <a:rPr lang="en-US" sz="2000" dirty="0" err="1" smtClean="0">
                <a:latin typeface="Lucida Console" pitchFamily="49" charset="0"/>
              </a:rPr>
              <a:t>malloc</a:t>
            </a:r>
            <a:r>
              <a:rPr lang="en-US" sz="2000" dirty="0" smtClean="0">
                <a:latin typeface="Lucida Console" pitchFamily="49" charset="0"/>
              </a:rPr>
              <a:t>(2 * </a:t>
            </a:r>
            <a:r>
              <a:rPr lang="en-US" sz="2000" dirty="0" err="1" smtClean="0">
                <a:latin typeface="Lucida Console" pitchFamily="49" charset="0"/>
              </a:rPr>
              <a:t>sizeof</a:t>
            </a:r>
            <a:r>
              <a:rPr lang="en-US" sz="2000" dirty="0" smtClean="0">
                <a:latin typeface="Lucida Console" pitchFamily="49" charset="0"/>
              </a:rPr>
              <a:t>(</a:t>
            </a:r>
            <a:r>
              <a:rPr lang="en-US" sz="2000" dirty="0" err="1" smtClean="0">
                <a:latin typeface="Lucida Console" pitchFamily="49" charset="0"/>
              </a:rPr>
              <a:t>int</a:t>
            </a:r>
            <a:r>
              <a:rPr lang="en-US" sz="2000" dirty="0" smtClean="0">
                <a:latin typeface="Lucida Console" pitchFamily="49" charset="0"/>
              </a:rPr>
              <a:t>));</a:t>
            </a:r>
          </a:p>
          <a:p>
            <a:pPr>
              <a:buNone/>
            </a:pPr>
            <a:r>
              <a:rPr lang="en-US" sz="2000" dirty="0" smtClean="0">
                <a:latin typeface="Lucida Console" pitchFamily="49" charset="0"/>
              </a:rPr>
              <a:t>	 /* Expect PLK as pointer variable is incremented</a:t>
            </a:r>
          </a:p>
          <a:p>
            <a:pPr>
              <a:buNone/>
            </a:pPr>
            <a:r>
              <a:rPr lang="en-US" sz="2000" dirty="0" smtClean="0">
                <a:latin typeface="Lucida Console" pitchFamily="49" charset="0"/>
              </a:rPr>
              <a:t>      past beginning of block */</a:t>
            </a:r>
          </a:p>
          <a:p>
            <a:pPr>
              <a:buNone/>
            </a:pPr>
            <a:r>
              <a:rPr lang="en-US" sz="2000" dirty="0" smtClean="0">
                <a:latin typeface="Lucida Console" pitchFamily="49" charset="0"/>
              </a:rPr>
              <a:t>	</a:t>
            </a:r>
            <a:r>
              <a:rPr lang="en-US" sz="2000" dirty="0" err="1" smtClean="0">
                <a:latin typeface="Lucida Console" pitchFamily="49" charset="0"/>
              </a:rPr>
              <a:t>plk</a:t>
            </a:r>
            <a:r>
              <a:rPr lang="en-US" sz="2000" dirty="0" smtClean="0">
                <a:latin typeface="Lucida Console" pitchFamily="49" charset="0"/>
              </a:rPr>
              <a:t>++;		</a:t>
            </a:r>
          </a:p>
          <a:p>
            <a:pPr>
              <a:buNone/>
            </a:pPr>
            <a:r>
              <a:rPr lang="en-US" sz="2000" dirty="0" smtClean="0">
                <a:latin typeface="Lucida Console" pitchFamily="49" charset="0"/>
              </a:rPr>
              <a:t>}</a:t>
            </a:r>
            <a:endParaRPr lang="en-US" sz="2000" dirty="0">
              <a:latin typeface="Lucida Console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Faulty heap management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898648" y="6356350"/>
            <a:ext cx="3578352" cy="501650"/>
          </a:xfrm>
        </p:spPr>
        <p:txBody>
          <a:bodyPr/>
          <a:lstStyle/>
          <a:p>
            <a:r>
              <a:rPr lang="en-US" dirty="0" smtClean="0"/>
              <a:t>CS 3090: Safety Critical Programming in 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4ACAA-C07D-4D49-BB34-FCC94B4B114A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381000" y="1219200"/>
            <a:ext cx="8229600" cy="4937760"/>
          </a:xfrm>
        </p:spPr>
        <p:txBody>
          <a:bodyPr>
            <a:normAutofit fontScale="85000" lnSpcReduction="10000"/>
          </a:bodyPr>
          <a:lstStyle/>
          <a:p>
            <a:r>
              <a:rPr lang="en-US" sz="2800" dirty="0" smtClean="0"/>
              <a:t>Freeing non-heap memory</a:t>
            </a:r>
          </a:p>
          <a:p>
            <a:r>
              <a:rPr lang="en-US" sz="2800" dirty="0" smtClean="0"/>
              <a:t>Freeing unallocated memory</a:t>
            </a:r>
          </a:p>
          <a:p>
            <a:pPr>
              <a:buNone/>
            </a:pPr>
            <a:r>
              <a:rPr lang="en-US" sz="2400" dirty="0" smtClean="0">
                <a:latin typeface="Lucida Console" pitchFamily="49" charset="0"/>
              </a:rPr>
              <a:t>void </a:t>
            </a:r>
            <a:r>
              <a:rPr lang="en-US" sz="2400" dirty="0" err="1" smtClean="0">
                <a:latin typeface="Lucida Console" pitchFamily="49" charset="0"/>
              </a:rPr>
              <a:t>genFNH</a:t>
            </a:r>
            <a:r>
              <a:rPr lang="en-US" sz="2400" dirty="0" smtClean="0">
                <a:latin typeface="Lucida Console" pitchFamily="49" charset="0"/>
              </a:rPr>
              <a:t>() {</a:t>
            </a:r>
          </a:p>
          <a:p>
            <a:pPr>
              <a:buNone/>
            </a:pPr>
            <a:r>
              <a:rPr lang="en-US" sz="2400" dirty="0" smtClean="0">
                <a:latin typeface="Lucida Console" pitchFamily="49" charset="0"/>
              </a:rPr>
              <a:t>	</a:t>
            </a:r>
            <a:r>
              <a:rPr lang="en-US" sz="2400" dirty="0" err="1" smtClean="0">
                <a:latin typeface="Lucida Console" pitchFamily="49" charset="0"/>
              </a:rPr>
              <a:t>int</a:t>
            </a:r>
            <a:r>
              <a:rPr lang="en-US" sz="2400" dirty="0" smtClean="0">
                <a:latin typeface="Lucida Console" pitchFamily="49" charset="0"/>
              </a:rPr>
              <a:t> </a:t>
            </a:r>
            <a:r>
              <a:rPr lang="en-US" sz="2400" dirty="0" err="1" smtClean="0">
                <a:latin typeface="Lucida Console" pitchFamily="49" charset="0"/>
              </a:rPr>
              <a:t>fnh</a:t>
            </a:r>
            <a:r>
              <a:rPr lang="en-US" sz="2400" dirty="0" smtClean="0">
                <a:latin typeface="Lucida Console" pitchFamily="49" charset="0"/>
              </a:rPr>
              <a:t> = 0;</a:t>
            </a:r>
          </a:p>
          <a:p>
            <a:pPr>
              <a:buNone/>
            </a:pPr>
            <a:r>
              <a:rPr lang="en-US" sz="2400" dirty="0" smtClean="0">
                <a:latin typeface="Lucida Console" pitchFamily="49" charset="0"/>
              </a:rPr>
              <a:t>	free(&amp;</a:t>
            </a:r>
            <a:r>
              <a:rPr lang="en-US" sz="2400" dirty="0" err="1" smtClean="0">
                <a:latin typeface="Lucida Console" pitchFamily="49" charset="0"/>
              </a:rPr>
              <a:t>fnh</a:t>
            </a:r>
            <a:r>
              <a:rPr lang="en-US" sz="2400" dirty="0" smtClean="0">
                <a:latin typeface="Lucida Console" pitchFamily="49" charset="0"/>
              </a:rPr>
              <a:t>); /* Expect FNH: freeing stack memory */</a:t>
            </a:r>
          </a:p>
          <a:p>
            <a:pPr>
              <a:buNone/>
            </a:pPr>
            <a:r>
              <a:rPr lang="en-US" sz="2400" dirty="0" smtClean="0">
                <a:latin typeface="Lucida Console" pitchFamily="49" charset="0"/>
              </a:rPr>
              <a:t>}</a:t>
            </a:r>
          </a:p>
          <a:p>
            <a:pPr>
              <a:buNone/>
            </a:pPr>
            <a:r>
              <a:rPr lang="en-US" sz="2400" dirty="0" smtClean="0">
                <a:latin typeface="Lucida Console" pitchFamily="49" charset="0"/>
              </a:rPr>
              <a:t>void </a:t>
            </a:r>
            <a:r>
              <a:rPr lang="en-US" sz="2400" dirty="0" err="1" smtClean="0">
                <a:latin typeface="Lucida Console" pitchFamily="49" charset="0"/>
              </a:rPr>
              <a:t>genFUM</a:t>
            </a:r>
            <a:r>
              <a:rPr lang="en-US" sz="2400" dirty="0" smtClean="0">
                <a:latin typeface="Lucida Console" pitchFamily="49" charset="0"/>
              </a:rPr>
              <a:t>() {</a:t>
            </a:r>
          </a:p>
          <a:p>
            <a:pPr>
              <a:buNone/>
            </a:pPr>
            <a:r>
              <a:rPr lang="en-US" sz="2400" dirty="0" smtClean="0">
                <a:latin typeface="Lucida Console" pitchFamily="49" charset="0"/>
              </a:rPr>
              <a:t>	</a:t>
            </a:r>
            <a:r>
              <a:rPr lang="en-US" sz="2400" dirty="0" err="1" smtClean="0">
                <a:latin typeface="Lucida Console" pitchFamily="49" charset="0"/>
              </a:rPr>
              <a:t>int</a:t>
            </a:r>
            <a:r>
              <a:rPr lang="en-US" sz="2400" dirty="0" smtClean="0">
                <a:latin typeface="Lucida Console" pitchFamily="49" charset="0"/>
              </a:rPr>
              <a:t> *</a:t>
            </a:r>
            <a:r>
              <a:rPr lang="en-US" sz="2400" dirty="0" err="1" smtClean="0">
                <a:latin typeface="Lucida Console" pitchFamily="49" charset="0"/>
              </a:rPr>
              <a:t>fum</a:t>
            </a:r>
            <a:r>
              <a:rPr lang="en-US" sz="2400" dirty="0" smtClean="0">
                <a:latin typeface="Lucida Console" pitchFamily="49" charset="0"/>
              </a:rPr>
              <a:t> = (</a:t>
            </a:r>
            <a:r>
              <a:rPr lang="en-US" sz="2400" dirty="0" err="1" smtClean="0">
                <a:latin typeface="Lucida Console" pitchFamily="49" charset="0"/>
              </a:rPr>
              <a:t>int</a:t>
            </a:r>
            <a:r>
              <a:rPr lang="en-US" sz="2400" dirty="0" smtClean="0">
                <a:latin typeface="Lucida Console" pitchFamily="49" charset="0"/>
              </a:rPr>
              <a:t> *) </a:t>
            </a:r>
            <a:r>
              <a:rPr lang="en-US" sz="2400" dirty="0" err="1" smtClean="0">
                <a:latin typeface="Lucida Console" pitchFamily="49" charset="0"/>
              </a:rPr>
              <a:t>malloc</a:t>
            </a:r>
            <a:r>
              <a:rPr lang="en-US" sz="2400" dirty="0" smtClean="0">
                <a:latin typeface="Lucida Console" pitchFamily="49" charset="0"/>
              </a:rPr>
              <a:t>(4 * </a:t>
            </a:r>
            <a:r>
              <a:rPr lang="en-US" sz="2400" dirty="0" err="1" smtClean="0">
                <a:latin typeface="Lucida Console" pitchFamily="49" charset="0"/>
              </a:rPr>
              <a:t>sizeof</a:t>
            </a:r>
            <a:r>
              <a:rPr lang="en-US" sz="2400" dirty="0" smtClean="0">
                <a:latin typeface="Lucida Console" pitchFamily="49" charset="0"/>
              </a:rPr>
              <a:t>(</a:t>
            </a:r>
            <a:r>
              <a:rPr lang="en-US" sz="2400" dirty="0" err="1" smtClean="0">
                <a:latin typeface="Lucida Console" pitchFamily="49" charset="0"/>
              </a:rPr>
              <a:t>int</a:t>
            </a:r>
            <a:r>
              <a:rPr lang="en-US" sz="2400" dirty="0" smtClean="0">
                <a:latin typeface="Lucida Console" pitchFamily="49" charset="0"/>
              </a:rPr>
              <a:t>));</a:t>
            </a:r>
          </a:p>
          <a:p>
            <a:pPr>
              <a:buNone/>
            </a:pPr>
            <a:r>
              <a:rPr lang="en-US" sz="2400" dirty="0" smtClean="0">
                <a:latin typeface="Lucida Console" pitchFamily="49" charset="0"/>
              </a:rPr>
              <a:t>	free(fum+1); /* Expect FUM: fum+1 points to middle of a block */</a:t>
            </a:r>
          </a:p>
          <a:p>
            <a:pPr>
              <a:buNone/>
            </a:pPr>
            <a:r>
              <a:rPr lang="en-US" sz="2400" dirty="0" smtClean="0">
                <a:latin typeface="Lucida Console" pitchFamily="49" charset="0"/>
              </a:rPr>
              <a:t>	free(</a:t>
            </a:r>
            <a:r>
              <a:rPr lang="en-US" sz="2400" dirty="0" err="1" smtClean="0">
                <a:latin typeface="Lucida Console" pitchFamily="49" charset="0"/>
              </a:rPr>
              <a:t>fum</a:t>
            </a:r>
            <a:r>
              <a:rPr lang="en-US" sz="2400" dirty="0" smtClean="0">
                <a:latin typeface="Lucida Console" pitchFamily="49" charset="0"/>
              </a:rPr>
              <a:t>);</a:t>
            </a:r>
          </a:p>
          <a:p>
            <a:pPr>
              <a:buNone/>
            </a:pPr>
            <a:r>
              <a:rPr lang="en-US" sz="2400" dirty="0" smtClean="0">
                <a:latin typeface="Lucida Console" pitchFamily="49" charset="0"/>
              </a:rPr>
              <a:t>	free(</a:t>
            </a:r>
            <a:r>
              <a:rPr lang="en-US" sz="2400" dirty="0" err="1" smtClean="0">
                <a:latin typeface="Lucida Console" pitchFamily="49" charset="0"/>
              </a:rPr>
              <a:t>fum</a:t>
            </a:r>
            <a:r>
              <a:rPr lang="en-US" sz="2400" dirty="0" smtClean="0">
                <a:latin typeface="Lucida Console" pitchFamily="49" charset="0"/>
              </a:rPr>
              <a:t>); /* Expect FUM: freeing already freed memory */</a:t>
            </a:r>
          </a:p>
          <a:p>
            <a:pPr>
              <a:buNone/>
            </a:pPr>
            <a:r>
              <a:rPr lang="en-US" sz="2400" dirty="0" smtClean="0">
                <a:latin typeface="Lucida Console" pitchFamily="49" charset="0"/>
              </a:rPr>
              <a:t>}</a:t>
            </a:r>
            <a:endParaRPr lang="en-US" sz="2400" dirty="0">
              <a:latin typeface="Lucida Console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Tools for analyzing memory management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898648" y="6356350"/>
            <a:ext cx="3578352" cy="501650"/>
          </a:xfrm>
        </p:spPr>
        <p:txBody>
          <a:bodyPr/>
          <a:lstStyle/>
          <a:p>
            <a:r>
              <a:rPr lang="en-US" dirty="0" smtClean="0"/>
              <a:t>CS 3090: Safety Critical Programming in 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4ACAA-C07D-4D49-BB34-FCC94B4B114A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0" y="1219200"/>
            <a:ext cx="8686800" cy="4937760"/>
          </a:xfrm>
        </p:spPr>
        <p:txBody>
          <a:bodyPr>
            <a:normAutofit/>
          </a:bodyPr>
          <a:lstStyle/>
          <a:p>
            <a:r>
              <a:rPr lang="en-US" sz="2400" dirty="0" smtClean="0"/>
              <a:t>Purify: runtime analysis for finding memory errors</a:t>
            </a:r>
          </a:p>
          <a:p>
            <a:pPr lvl="1"/>
            <a:r>
              <a:rPr lang="en-US" sz="2000" dirty="0" smtClean="0"/>
              <a:t>dynamic analysis tool:</a:t>
            </a:r>
          </a:p>
          <a:p>
            <a:pPr lvl="1">
              <a:buNone/>
            </a:pPr>
            <a:r>
              <a:rPr lang="en-US" sz="2000" dirty="0" smtClean="0"/>
              <a:t>	collects information on memory</a:t>
            </a:r>
          </a:p>
          <a:p>
            <a:pPr lvl="1">
              <a:buNone/>
            </a:pPr>
            <a:r>
              <a:rPr lang="en-US" sz="2000" dirty="0" smtClean="0"/>
              <a:t>	management while program runs</a:t>
            </a:r>
          </a:p>
          <a:p>
            <a:pPr lvl="1"/>
            <a:r>
              <a:rPr lang="en-US" sz="2000" dirty="0" smtClean="0"/>
              <a:t>contrast with static analysis tool</a:t>
            </a:r>
          </a:p>
          <a:p>
            <a:pPr lvl="1">
              <a:buNone/>
            </a:pPr>
            <a:r>
              <a:rPr lang="en-US" sz="2000" dirty="0" smtClean="0"/>
              <a:t>	like </a:t>
            </a:r>
            <a:r>
              <a:rPr lang="en-US" sz="2000" dirty="0" smtClean="0">
                <a:latin typeface="Lucida Console" pitchFamily="49" charset="0"/>
              </a:rPr>
              <a:t>lint</a:t>
            </a:r>
            <a:r>
              <a:rPr lang="en-US" sz="2000" dirty="0" smtClean="0"/>
              <a:t>, which analyzes source</a:t>
            </a:r>
          </a:p>
          <a:p>
            <a:pPr lvl="1">
              <a:buNone/>
            </a:pPr>
            <a:r>
              <a:rPr lang="en-US" sz="2000" dirty="0" smtClean="0"/>
              <a:t>	code without compiling, executing it</a:t>
            </a:r>
            <a:endParaRPr lang="en-US" sz="20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800600" y="2371725"/>
            <a:ext cx="4191000" cy="3648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898648" y="6356350"/>
            <a:ext cx="3578352" cy="501650"/>
          </a:xfrm>
        </p:spPr>
        <p:txBody>
          <a:bodyPr/>
          <a:lstStyle/>
          <a:p>
            <a:r>
              <a:rPr lang="en-US" dirty="0" smtClean="0"/>
              <a:t>CS 3090: Safety Critical Programming in 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4ACAA-C07D-4D49-BB34-FCC94B4B114A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S.C. Gupta and S. </a:t>
            </a:r>
            <a:r>
              <a:rPr lang="en-US" dirty="0" err="1" smtClean="0"/>
              <a:t>Sreenivasamurthy</a:t>
            </a:r>
            <a:r>
              <a:rPr lang="en-US" dirty="0" smtClean="0"/>
              <a:t>. “Navigating ‘C’ in a ‘leaky’ boat? Try Purify”. </a:t>
            </a:r>
            <a:r>
              <a:rPr lang="en-US" dirty="0" smtClean="0">
                <a:hlinkClick r:id="rId2"/>
              </a:rPr>
              <a:t>http://www.ibm.com/developerworks/rational/library/06/0822_satish-giridhar/</a:t>
            </a:r>
            <a:r>
              <a:rPr lang="en-US" dirty="0" smtClean="0"/>
              <a:t>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>
    <a:spDef>
      <a:spPr>
        <a:solidFill>
          <a:schemeClr val="accent2"/>
        </a:solidFill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tailEnd type="arrow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19343</TotalTime>
  <Words>1073</Words>
  <Application>Microsoft Office PowerPoint</Application>
  <PresentationFormat>On-screen Show (4:3)</PresentationFormat>
  <Paragraphs>289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Arial Unicode MS</vt:lpstr>
      <vt:lpstr>Bookman Old Style</vt:lpstr>
      <vt:lpstr>Calibri</vt:lpstr>
      <vt:lpstr>Gill Sans MT</vt:lpstr>
      <vt:lpstr>Lucida Console</vt:lpstr>
      <vt:lpstr>Wingdings</vt:lpstr>
      <vt:lpstr>Wingdings 3</vt:lpstr>
      <vt:lpstr>Origin</vt:lpstr>
      <vt:lpstr>Dynamic memory allocation in C</vt:lpstr>
      <vt:lpstr>Overview of memory management</vt:lpstr>
      <vt:lpstr>Overview of memory management</vt:lpstr>
      <vt:lpstr>Allocating new heap memory</vt:lpstr>
      <vt:lpstr>Allocating new heap memory</vt:lpstr>
      <vt:lpstr>Deallocating heap memory</vt:lpstr>
      <vt:lpstr>Checking for successful allocation</vt:lpstr>
      <vt:lpstr>Checking for successful allocation</vt:lpstr>
      <vt:lpstr>Memory errors</vt:lpstr>
      <vt:lpstr>Using memory that you have not initialized</vt:lpstr>
      <vt:lpstr>Using memory that you don’t own</vt:lpstr>
      <vt:lpstr>Using memory that you don’t own</vt:lpstr>
      <vt:lpstr>Using memory that you don’t own</vt:lpstr>
      <vt:lpstr>Using memory that you don’t own</vt:lpstr>
      <vt:lpstr>Using memory that you don’t own</vt:lpstr>
      <vt:lpstr>Using memory that you haven’t allocated</vt:lpstr>
      <vt:lpstr>Faulty heap management</vt:lpstr>
      <vt:lpstr>Faulty heap management</vt:lpstr>
      <vt:lpstr>Faulty heap management</vt:lpstr>
      <vt:lpstr>Tools for analyzing memory management</vt:lpstr>
      <vt:lpstr>Reference</vt:lpstr>
    </vt:vector>
  </TitlesOfParts>
  <Company>Utility Muffin Research Kitchen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Dynamic memory allocation in C</dc:title>
  <dc:creator>Charles Wallace</dc:creator>
  <cp:lastModifiedBy>CNS-LAB</cp:lastModifiedBy>
  <cp:revision>643</cp:revision>
  <dcterms:created xsi:type="dcterms:W3CDTF">2007-06-13T23:23:09Z</dcterms:created>
  <dcterms:modified xsi:type="dcterms:W3CDTF">2015-06-06T09:49:23Z</dcterms:modified>
</cp:coreProperties>
</file>